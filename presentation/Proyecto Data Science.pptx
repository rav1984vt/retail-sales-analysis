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1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63" r:id="rId11"/>
    <p:sldId id="264" r:id="rId12"/>
    <p:sldId id="265" r:id="rId13"/>
    <p:sldId id="272" r:id="rId14"/>
    <p:sldId id="271" r:id="rId15"/>
    <p:sldId id="266" r:id="rId16"/>
    <p:sldId id="267" r:id="rId17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0829EC-2D0B-400F-B246-6811BE67CA2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54525AC-E2EE-4490-AE04-CFD9493727CD}">
      <dgm:prSet/>
      <dgm:spPr/>
      <dgm:t>
        <a:bodyPr/>
        <a:lstStyle/>
        <a:p>
          <a:pPr>
            <a:defRPr cap="all"/>
          </a:pPr>
          <a:r>
            <a:rPr lang="es-CL" noProof="0" dirty="0"/>
            <a:t>Introducción y Objetivos.</a:t>
          </a:r>
        </a:p>
      </dgm:t>
    </dgm:pt>
    <dgm:pt modelId="{2EC7FCA6-686F-441F-88B8-C1DCE4FB30D0}" type="parTrans" cxnId="{D8BBC87B-8D5A-48BF-A8DE-50722910DBA7}">
      <dgm:prSet/>
      <dgm:spPr/>
      <dgm:t>
        <a:bodyPr/>
        <a:lstStyle/>
        <a:p>
          <a:endParaRPr lang="en-US"/>
        </a:p>
      </dgm:t>
    </dgm:pt>
    <dgm:pt modelId="{4A4C7BCE-8922-4954-AEE1-2D971FD0AA98}" type="sibTrans" cxnId="{D8BBC87B-8D5A-48BF-A8DE-50722910DBA7}">
      <dgm:prSet/>
      <dgm:spPr/>
      <dgm:t>
        <a:bodyPr/>
        <a:lstStyle/>
        <a:p>
          <a:endParaRPr lang="en-US"/>
        </a:p>
      </dgm:t>
    </dgm:pt>
    <dgm:pt modelId="{D294D96A-FEA0-43E6-B430-AF25BB8B6ED4}">
      <dgm:prSet/>
      <dgm:spPr/>
      <dgm:t>
        <a:bodyPr/>
        <a:lstStyle/>
        <a:p>
          <a:pPr>
            <a:defRPr cap="all"/>
          </a:pPr>
          <a:r>
            <a:rPr lang="es-CL" noProof="0" dirty="0"/>
            <a:t>Descripción del conjunto de datos.</a:t>
          </a:r>
        </a:p>
      </dgm:t>
    </dgm:pt>
    <dgm:pt modelId="{9BEB3E8A-CF35-4AFF-AC09-E38ACFDEA9B2}" type="parTrans" cxnId="{CB7D0E3A-661C-4D6C-8724-B80314035E1F}">
      <dgm:prSet/>
      <dgm:spPr/>
      <dgm:t>
        <a:bodyPr/>
        <a:lstStyle/>
        <a:p>
          <a:endParaRPr lang="en-US"/>
        </a:p>
      </dgm:t>
    </dgm:pt>
    <dgm:pt modelId="{D8BDDBBD-4B14-42F5-869D-3C718E585A8A}" type="sibTrans" cxnId="{CB7D0E3A-661C-4D6C-8724-B80314035E1F}">
      <dgm:prSet/>
      <dgm:spPr/>
      <dgm:t>
        <a:bodyPr/>
        <a:lstStyle/>
        <a:p>
          <a:endParaRPr lang="en-US"/>
        </a:p>
      </dgm:t>
    </dgm:pt>
    <dgm:pt modelId="{CE567ADC-C918-4C39-996F-AF4F4D7EC709}">
      <dgm:prSet/>
      <dgm:spPr/>
      <dgm:t>
        <a:bodyPr/>
        <a:lstStyle/>
        <a:p>
          <a:pPr>
            <a:defRPr cap="all"/>
          </a:pPr>
          <a:r>
            <a:rPr lang="es-CL" noProof="0" dirty="0"/>
            <a:t>Principales análisis y hallazgos.</a:t>
          </a:r>
        </a:p>
      </dgm:t>
    </dgm:pt>
    <dgm:pt modelId="{444252E5-BE16-4097-A08E-BCD828D9E28E}" type="parTrans" cxnId="{F46E37C9-6037-41C8-9079-B0E318AC67A7}">
      <dgm:prSet/>
      <dgm:spPr/>
      <dgm:t>
        <a:bodyPr/>
        <a:lstStyle/>
        <a:p>
          <a:endParaRPr lang="en-US"/>
        </a:p>
      </dgm:t>
    </dgm:pt>
    <dgm:pt modelId="{8AFDBA27-AA7A-41CD-8C6A-468D7680C73C}" type="sibTrans" cxnId="{F46E37C9-6037-41C8-9079-B0E318AC67A7}">
      <dgm:prSet/>
      <dgm:spPr/>
      <dgm:t>
        <a:bodyPr/>
        <a:lstStyle/>
        <a:p>
          <a:endParaRPr lang="en-US"/>
        </a:p>
      </dgm:t>
    </dgm:pt>
    <dgm:pt modelId="{9FC60EA5-F27E-4029-9C25-2D7E7A4CB1CB}">
      <dgm:prSet/>
      <dgm:spPr/>
      <dgm:t>
        <a:bodyPr/>
        <a:lstStyle/>
        <a:p>
          <a:pPr>
            <a:defRPr cap="all"/>
          </a:pPr>
          <a:r>
            <a:rPr lang="es-CL" noProof="0" dirty="0"/>
            <a:t>Visualizaciones clave con explicación.</a:t>
          </a:r>
        </a:p>
      </dgm:t>
    </dgm:pt>
    <dgm:pt modelId="{CE1D9751-7B41-4B96-852B-33D612BB9F04}" type="parTrans" cxnId="{02981051-4FFE-4DFD-B02D-674CAFE40A84}">
      <dgm:prSet/>
      <dgm:spPr/>
      <dgm:t>
        <a:bodyPr/>
        <a:lstStyle/>
        <a:p>
          <a:endParaRPr lang="en-US"/>
        </a:p>
      </dgm:t>
    </dgm:pt>
    <dgm:pt modelId="{D515EFC5-1CD1-44A5-A149-0657D478040B}" type="sibTrans" cxnId="{02981051-4FFE-4DFD-B02D-674CAFE40A84}">
      <dgm:prSet/>
      <dgm:spPr/>
      <dgm:t>
        <a:bodyPr/>
        <a:lstStyle/>
        <a:p>
          <a:endParaRPr lang="en-US"/>
        </a:p>
      </dgm:t>
    </dgm:pt>
    <dgm:pt modelId="{6943D1AD-15A0-4421-8FE9-32D1B0F9EEE9}">
      <dgm:prSet/>
      <dgm:spPr/>
      <dgm:t>
        <a:bodyPr/>
        <a:lstStyle/>
        <a:p>
          <a:pPr>
            <a:defRPr cap="all"/>
          </a:pPr>
          <a:r>
            <a:rPr lang="es-CL" noProof="0" dirty="0"/>
            <a:t>Conclusiones y recomendaciones.</a:t>
          </a:r>
        </a:p>
      </dgm:t>
    </dgm:pt>
    <dgm:pt modelId="{533DA970-4F8C-4E2A-B034-7516FBA01D5E}" type="parTrans" cxnId="{AA4479CB-AA4C-4E66-8717-BF0DEE384365}">
      <dgm:prSet/>
      <dgm:spPr/>
      <dgm:t>
        <a:bodyPr/>
        <a:lstStyle/>
        <a:p>
          <a:endParaRPr lang="en-US"/>
        </a:p>
      </dgm:t>
    </dgm:pt>
    <dgm:pt modelId="{3A893ABC-266E-41D2-A1C2-6DFA02EF36B8}" type="sibTrans" cxnId="{AA4479CB-AA4C-4E66-8717-BF0DEE384365}">
      <dgm:prSet/>
      <dgm:spPr/>
      <dgm:t>
        <a:bodyPr/>
        <a:lstStyle/>
        <a:p>
          <a:endParaRPr lang="en-US"/>
        </a:p>
      </dgm:t>
    </dgm:pt>
    <dgm:pt modelId="{7E8822C0-04E6-4CB8-B018-A83E262D0407}" type="pres">
      <dgm:prSet presAssocID="{6D0829EC-2D0B-400F-B246-6811BE67CA2F}" presName="root" presStyleCnt="0">
        <dgm:presLayoutVars>
          <dgm:dir/>
          <dgm:resizeHandles val="exact"/>
        </dgm:presLayoutVars>
      </dgm:prSet>
      <dgm:spPr/>
    </dgm:pt>
    <dgm:pt modelId="{39004F37-014E-4824-B65C-A5E9B4737EF7}" type="pres">
      <dgm:prSet presAssocID="{B54525AC-E2EE-4490-AE04-CFD9493727CD}" presName="compNode" presStyleCnt="0"/>
      <dgm:spPr/>
    </dgm:pt>
    <dgm:pt modelId="{33B92C65-D060-4FF4-A007-5486E578ED98}" type="pres">
      <dgm:prSet presAssocID="{B54525AC-E2EE-4490-AE04-CFD9493727CD}" presName="iconBgRect" presStyleLbl="bgShp" presStyleIdx="0" presStyleCnt="5"/>
      <dgm:spPr/>
    </dgm:pt>
    <dgm:pt modelId="{EA52EEB8-90E6-427B-AEE2-F6FF512191D4}" type="pres">
      <dgm:prSet presAssocID="{B54525AC-E2EE-4490-AE04-CFD9493727C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BEBD8A7B-5A0D-4276-8925-CBE198BB4C13}" type="pres">
      <dgm:prSet presAssocID="{B54525AC-E2EE-4490-AE04-CFD9493727CD}" presName="spaceRect" presStyleCnt="0"/>
      <dgm:spPr/>
    </dgm:pt>
    <dgm:pt modelId="{B5990016-D739-418A-8199-860A1A6EF7F7}" type="pres">
      <dgm:prSet presAssocID="{B54525AC-E2EE-4490-AE04-CFD9493727CD}" presName="textRect" presStyleLbl="revTx" presStyleIdx="0" presStyleCnt="5">
        <dgm:presLayoutVars>
          <dgm:chMax val="1"/>
          <dgm:chPref val="1"/>
        </dgm:presLayoutVars>
      </dgm:prSet>
      <dgm:spPr/>
    </dgm:pt>
    <dgm:pt modelId="{BC831FC9-9EFD-45E0-AB3A-B80DAFF48BF2}" type="pres">
      <dgm:prSet presAssocID="{4A4C7BCE-8922-4954-AEE1-2D971FD0AA98}" presName="sibTrans" presStyleCnt="0"/>
      <dgm:spPr/>
    </dgm:pt>
    <dgm:pt modelId="{1B96BBD4-A8E2-4702-B446-B22388E55B73}" type="pres">
      <dgm:prSet presAssocID="{D294D96A-FEA0-43E6-B430-AF25BB8B6ED4}" presName="compNode" presStyleCnt="0"/>
      <dgm:spPr/>
    </dgm:pt>
    <dgm:pt modelId="{88D1A4CB-ADB6-462A-9694-EA6195ADA45B}" type="pres">
      <dgm:prSet presAssocID="{D294D96A-FEA0-43E6-B430-AF25BB8B6ED4}" presName="iconBgRect" presStyleLbl="bgShp" presStyleIdx="1" presStyleCnt="5"/>
      <dgm:spPr/>
    </dgm:pt>
    <dgm:pt modelId="{8F309554-76F0-4153-A577-0214F199C9EB}" type="pres">
      <dgm:prSet presAssocID="{D294D96A-FEA0-43E6-B430-AF25BB8B6ED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14299DCC-AD52-41B2-9E9B-7663BFA23B50}" type="pres">
      <dgm:prSet presAssocID="{D294D96A-FEA0-43E6-B430-AF25BB8B6ED4}" presName="spaceRect" presStyleCnt="0"/>
      <dgm:spPr/>
    </dgm:pt>
    <dgm:pt modelId="{0D780418-EA07-4358-BF02-AB79F29EE902}" type="pres">
      <dgm:prSet presAssocID="{D294D96A-FEA0-43E6-B430-AF25BB8B6ED4}" presName="textRect" presStyleLbl="revTx" presStyleIdx="1" presStyleCnt="5">
        <dgm:presLayoutVars>
          <dgm:chMax val="1"/>
          <dgm:chPref val="1"/>
        </dgm:presLayoutVars>
      </dgm:prSet>
      <dgm:spPr/>
    </dgm:pt>
    <dgm:pt modelId="{E7E0BD90-B1E9-4377-98D5-A8624137E3E9}" type="pres">
      <dgm:prSet presAssocID="{D8BDDBBD-4B14-42F5-869D-3C718E585A8A}" presName="sibTrans" presStyleCnt="0"/>
      <dgm:spPr/>
    </dgm:pt>
    <dgm:pt modelId="{76785044-0F1A-419A-B380-002163A22E73}" type="pres">
      <dgm:prSet presAssocID="{CE567ADC-C918-4C39-996F-AF4F4D7EC709}" presName="compNode" presStyleCnt="0"/>
      <dgm:spPr/>
    </dgm:pt>
    <dgm:pt modelId="{38A0454F-64E7-4F65-B241-13013CBDD1B1}" type="pres">
      <dgm:prSet presAssocID="{CE567ADC-C918-4C39-996F-AF4F4D7EC709}" presName="iconBgRect" presStyleLbl="bgShp" presStyleIdx="2" presStyleCnt="5"/>
      <dgm:spPr/>
    </dgm:pt>
    <dgm:pt modelId="{40606AC9-E436-4FD0-B511-61E61102A309}" type="pres">
      <dgm:prSet presAssocID="{CE567ADC-C918-4C39-996F-AF4F4D7EC70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1CF8454-BDAB-475B-8CE0-7D6B9EBD499D}" type="pres">
      <dgm:prSet presAssocID="{CE567ADC-C918-4C39-996F-AF4F4D7EC709}" presName="spaceRect" presStyleCnt="0"/>
      <dgm:spPr/>
    </dgm:pt>
    <dgm:pt modelId="{D057A76A-8AD0-43C4-B830-AD7DB8E99572}" type="pres">
      <dgm:prSet presAssocID="{CE567ADC-C918-4C39-996F-AF4F4D7EC709}" presName="textRect" presStyleLbl="revTx" presStyleIdx="2" presStyleCnt="5">
        <dgm:presLayoutVars>
          <dgm:chMax val="1"/>
          <dgm:chPref val="1"/>
        </dgm:presLayoutVars>
      </dgm:prSet>
      <dgm:spPr/>
    </dgm:pt>
    <dgm:pt modelId="{41D88CE6-313B-4252-9AE1-8B4509E86FB4}" type="pres">
      <dgm:prSet presAssocID="{8AFDBA27-AA7A-41CD-8C6A-468D7680C73C}" presName="sibTrans" presStyleCnt="0"/>
      <dgm:spPr/>
    </dgm:pt>
    <dgm:pt modelId="{61A3B166-1118-49EA-83D3-2D7FC5DA5D20}" type="pres">
      <dgm:prSet presAssocID="{9FC60EA5-F27E-4029-9C25-2D7E7A4CB1CB}" presName="compNode" presStyleCnt="0"/>
      <dgm:spPr/>
    </dgm:pt>
    <dgm:pt modelId="{4C04D732-D84E-4C54-B825-E8B67217FEDD}" type="pres">
      <dgm:prSet presAssocID="{9FC60EA5-F27E-4029-9C25-2D7E7A4CB1CB}" presName="iconBgRect" presStyleLbl="bgShp" presStyleIdx="3" presStyleCnt="5"/>
      <dgm:spPr/>
    </dgm:pt>
    <dgm:pt modelId="{745CFAE8-90AE-44FE-80A2-64B837D74EB9}" type="pres">
      <dgm:prSet presAssocID="{9FC60EA5-F27E-4029-9C25-2D7E7A4CB1C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E9ECB4C6-2241-49AD-AB8B-39F1A99A2D63}" type="pres">
      <dgm:prSet presAssocID="{9FC60EA5-F27E-4029-9C25-2D7E7A4CB1CB}" presName="spaceRect" presStyleCnt="0"/>
      <dgm:spPr/>
    </dgm:pt>
    <dgm:pt modelId="{9FC21140-6DE8-4E8D-B54A-5AE391F44A7F}" type="pres">
      <dgm:prSet presAssocID="{9FC60EA5-F27E-4029-9C25-2D7E7A4CB1CB}" presName="textRect" presStyleLbl="revTx" presStyleIdx="3" presStyleCnt="5">
        <dgm:presLayoutVars>
          <dgm:chMax val="1"/>
          <dgm:chPref val="1"/>
        </dgm:presLayoutVars>
      </dgm:prSet>
      <dgm:spPr/>
    </dgm:pt>
    <dgm:pt modelId="{3A4E0A0E-0D22-4247-9444-773D18D7D643}" type="pres">
      <dgm:prSet presAssocID="{D515EFC5-1CD1-44A5-A149-0657D478040B}" presName="sibTrans" presStyleCnt="0"/>
      <dgm:spPr/>
    </dgm:pt>
    <dgm:pt modelId="{8BDBA990-8B3F-4DC4-938A-0783EEEDA28D}" type="pres">
      <dgm:prSet presAssocID="{6943D1AD-15A0-4421-8FE9-32D1B0F9EEE9}" presName="compNode" presStyleCnt="0"/>
      <dgm:spPr/>
    </dgm:pt>
    <dgm:pt modelId="{E7751398-CEF9-4466-A6F1-ED4AE18395E5}" type="pres">
      <dgm:prSet presAssocID="{6943D1AD-15A0-4421-8FE9-32D1B0F9EEE9}" presName="iconBgRect" presStyleLbl="bgShp" presStyleIdx="4" presStyleCnt="5"/>
      <dgm:spPr/>
    </dgm:pt>
    <dgm:pt modelId="{1C9D9842-1A7B-4401-BDA4-9EB4F3FCE92A}" type="pres">
      <dgm:prSet presAssocID="{6943D1AD-15A0-4421-8FE9-32D1B0F9EEE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BA112D6-5B5F-4C72-9166-19E6B189F28A}" type="pres">
      <dgm:prSet presAssocID="{6943D1AD-15A0-4421-8FE9-32D1B0F9EEE9}" presName="spaceRect" presStyleCnt="0"/>
      <dgm:spPr/>
    </dgm:pt>
    <dgm:pt modelId="{BD43A13D-99E3-4F18-97FE-71EFAA7B43A7}" type="pres">
      <dgm:prSet presAssocID="{6943D1AD-15A0-4421-8FE9-32D1B0F9EEE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F436712-93AF-4133-8A0E-7B1281155A6F}" type="presOf" srcId="{CE567ADC-C918-4C39-996F-AF4F4D7EC709}" destId="{D057A76A-8AD0-43C4-B830-AD7DB8E99572}" srcOrd="0" destOrd="0" presId="urn:microsoft.com/office/officeart/2018/5/layout/IconCircleLabelList"/>
    <dgm:cxn modelId="{CB7D0E3A-661C-4D6C-8724-B80314035E1F}" srcId="{6D0829EC-2D0B-400F-B246-6811BE67CA2F}" destId="{D294D96A-FEA0-43E6-B430-AF25BB8B6ED4}" srcOrd="1" destOrd="0" parTransId="{9BEB3E8A-CF35-4AFF-AC09-E38ACFDEA9B2}" sibTransId="{D8BDDBBD-4B14-42F5-869D-3C718E585A8A}"/>
    <dgm:cxn modelId="{A087D35D-FDA1-4275-82C5-FC0A6C7A71B8}" type="presOf" srcId="{6D0829EC-2D0B-400F-B246-6811BE67CA2F}" destId="{7E8822C0-04E6-4CB8-B018-A83E262D0407}" srcOrd="0" destOrd="0" presId="urn:microsoft.com/office/officeart/2018/5/layout/IconCircleLabelList"/>
    <dgm:cxn modelId="{BEC2E265-7425-4C51-9978-D927FC16442A}" type="presOf" srcId="{9FC60EA5-F27E-4029-9C25-2D7E7A4CB1CB}" destId="{9FC21140-6DE8-4E8D-B54A-5AE391F44A7F}" srcOrd="0" destOrd="0" presId="urn:microsoft.com/office/officeart/2018/5/layout/IconCircleLabelList"/>
    <dgm:cxn modelId="{267CDD6D-BA50-4293-8CD5-FC812486EEAE}" type="presOf" srcId="{6943D1AD-15A0-4421-8FE9-32D1B0F9EEE9}" destId="{BD43A13D-99E3-4F18-97FE-71EFAA7B43A7}" srcOrd="0" destOrd="0" presId="urn:microsoft.com/office/officeart/2018/5/layout/IconCircleLabelList"/>
    <dgm:cxn modelId="{02981051-4FFE-4DFD-B02D-674CAFE40A84}" srcId="{6D0829EC-2D0B-400F-B246-6811BE67CA2F}" destId="{9FC60EA5-F27E-4029-9C25-2D7E7A4CB1CB}" srcOrd="3" destOrd="0" parTransId="{CE1D9751-7B41-4B96-852B-33D612BB9F04}" sibTransId="{D515EFC5-1CD1-44A5-A149-0657D478040B}"/>
    <dgm:cxn modelId="{D8BBC87B-8D5A-48BF-A8DE-50722910DBA7}" srcId="{6D0829EC-2D0B-400F-B246-6811BE67CA2F}" destId="{B54525AC-E2EE-4490-AE04-CFD9493727CD}" srcOrd="0" destOrd="0" parTransId="{2EC7FCA6-686F-441F-88B8-C1DCE4FB30D0}" sibTransId="{4A4C7BCE-8922-4954-AEE1-2D971FD0AA98}"/>
    <dgm:cxn modelId="{701AEAAF-0D1E-4733-9EFC-B98CF36D836E}" type="presOf" srcId="{D294D96A-FEA0-43E6-B430-AF25BB8B6ED4}" destId="{0D780418-EA07-4358-BF02-AB79F29EE902}" srcOrd="0" destOrd="0" presId="urn:microsoft.com/office/officeart/2018/5/layout/IconCircleLabelList"/>
    <dgm:cxn modelId="{DD2CC4C3-92D5-4DA5-B8D3-05F189C060A4}" type="presOf" srcId="{B54525AC-E2EE-4490-AE04-CFD9493727CD}" destId="{B5990016-D739-418A-8199-860A1A6EF7F7}" srcOrd="0" destOrd="0" presId="urn:microsoft.com/office/officeart/2018/5/layout/IconCircleLabelList"/>
    <dgm:cxn modelId="{F46E37C9-6037-41C8-9079-B0E318AC67A7}" srcId="{6D0829EC-2D0B-400F-B246-6811BE67CA2F}" destId="{CE567ADC-C918-4C39-996F-AF4F4D7EC709}" srcOrd="2" destOrd="0" parTransId="{444252E5-BE16-4097-A08E-BCD828D9E28E}" sibTransId="{8AFDBA27-AA7A-41CD-8C6A-468D7680C73C}"/>
    <dgm:cxn modelId="{AA4479CB-AA4C-4E66-8717-BF0DEE384365}" srcId="{6D0829EC-2D0B-400F-B246-6811BE67CA2F}" destId="{6943D1AD-15A0-4421-8FE9-32D1B0F9EEE9}" srcOrd="4" destOrd="0" parTransId="{533DA970-4F8C-4E2A-B034-7516FBA01D5E}" sibTransId="{3A893ABC-266E-41D2-A1C2-6DFA02EF36B8}"/>
    <dgm:cxn modelId="{A1C81B5E-21C6-419B-A7AD-AE28E4F41324}" type="presParOf" srcId="{7E8822C0-04E6-4CB8-B018-A83E262D0407}" destId="{39004F37-014E-4824-B65C-A5E9B4737EF7}" srcOrd="0" destOrd="0" presId="urn:microsoft.com/office/officeart/2018/5/layout/IconCircleLabelList"/>
    <dgm:cxn modelId="{72AE9F8D-9255-45D6-A63D-FAD5B2BF7750}" type="presParOf" srcId="{39004F37-014E-4824-B65C-A5E9B4737EF7}" destId="{33B92C65-D060-4FF4-A007-5486E578ED98}" srcOrd="0" destOrd="0" presId="urn:microsoft.com/office/officeart/2018/5/layout/IconCircleLabelList"/>
    <dgm:cxn modelId="{93E5ADB3-DAA2-4540-B90C-7FDB54460D96}" type="presParOf" srcId="{39004F37-014E-4824-B65C-A5E9B4737EF7}" destId="{EA52EEB8-90E6-427B-AEE2-F6FF512191D4}" srcOrd="1" destOrd="0" presId="urn:microsoft.com/office/officeart/2018/5/layout/IconCircleLabelList"/>
    <dgm:cxn modelId="{AA819D09-67F7-4DBA-9756-A4B0C25E8B05}" type="presParOf" srcId="{39004F37-014E-4824-B65C-A5E9B4737EF7}" destId="{BEBD8A7B-5A0D-4276-8925-CBE198BB4C13}" srcOrd="2" destOrd="0" presId="urn:microsoft.com/office/officeart/2018/5/layout/IconCircleLabelList"/>
    <dgm:cxn modelId="{F64F9FED-3DAC-4762-8CBA-8C68C414C818}" type="presParOf" srcId="{39004F37-014E-4824-B65C-A5E9B4737EF7}" destId="{B5990016-D739-418A-8199-860A1A6EF7F7}" srcOrd="3" destOrd="0" presId="urn:microsoft.com/office/officeart/2018/5/layout/IconCircleLabelList"/>
    <dgm:cxn modelId="{FBEFDA8F-55E9-4FC3-9F01-9F524DB1C494}" type="presParOf" srcId="{7E8822C0-04E6-4CB8-B018-A83E262D0407}" destId="{BC831FC9-9EFD-45E0-AB3A-B80DAFF48BF2}" srcOrd="1" destOrd="0" presId="urn:microsoft.com/office/officeart/2018/5/layout/IconCircleLabelList"/>
    <dgm:cxn modelId="{1A989549-805E-4F66-B124-33A3E0586A17}" type="presParOf" srcId="{7E8822C0-04E6-4CB8-B018-A83E262D0407}" destId="{1B96BBD4-A8E2-4702-B446-B22388E55B73}" srcOrd="2" destOrd="0" presId="urn:microsoft.com/office/officeart/2018/5/layout/IconCircleLabelList"/>
    <dgm:cxn modelId="{D14B453F-D381-4199-B1EC-C9D7F2A937FB}" type="presParOf" srcId="{1B96BBD4-A8E2-4702-B446-B22388E55B73}" destId="{88D1A4CB-ADB6-462A-9694-EA6195ADA45B}" srcOrd="0" destOrd="0" presId="urn:microsoft.com/office/officeart/2018/5/layout/IconCircleLabelList"/>
    <dgm:cxn modelId="{626133D0-F1E3-4785-9EC7-EDB2B7D3BD16}" type="presParOf" srcId="{1B96BBD4-A8E2-4702-B446-B22388E55B73}" destId="{8F309554-76F0-4153-A577-0214F199C9EB}" srcOrd="1" destOrd="0" presId="urn:microsoft.com/office/officeart/2018/5/layout/IconCircleLabelList"/>
    <dgm:cxn modelId="{68F5D78E-57E8-40C1-8701-09230E6C9114}" type="presParOf" srcId="{1B96BBD4-A8E2-4702-B446-B22388E55B73}" destId="{14299DCC-AD52-41B2-9E9B-7663BFA23B50}" srcOrd="2" destOrd="0" presId="urn:microsoft.com/office/officeart/2018/5/layout/IconCircleLabelList"/>
    <dgm:cxn modelId="{4F11985F-D290-40C6-A412-1A0816971109}" type="presParOf" srcId="{1B96BBD4-A8E2-4702-B446-B22388E55B73}" destId="{0D780418-EA07-4358-BF02-AB79F29EE902}" srcOrd="3" destOrd="0" presId="urn:microsoft.com/office/officeart/2018/5/layout/IconCircleLabelList"/>
    <dgm:cxn modelId="{31D56403-FB52-4EDC-A162-794839B51761}" type="presParOf" srcId="{7E8822C0-04E6-4CB8-B018-A83E262D0407}" destId="{E7E0BD90-B1E9-4377-98D5-A8624137E3E9}" srcOrd="3" destOrd="0" presId="urn:microsoft.com/office/officeart/2018/5/layout/IconCircleLabelList"/>
    <dgm:cxn modelId="{8DB018E2-E73D-4F40-BD4D-E301BF922B14}" type="presParOf" srcId="{7E8822C0-04E6-4CB8-B018-A83E262D0407}" destId="{76785044-0F1A-419A-B380-002163A22E73}" srcOrd="4" destOrd="0" presId="urn:microsoft.com/office/officeart/2018/5/layout/IconCircleLabelList"/>
    <dgm:cxn modelId="{6E442C18-6EA4-473F-9FFC-C3EE7225B337}" type="presParOf" srcId="{76785044-0F1A-419A-B380-002163A22E73}" destId="{38A0454F-64E7-4F65-B241-13013CBDD1B1}" srcOrd="0" destOrd="0" presId="urn:microsoft.com/office/officeart/2018/5/layout/IconCircleLabelList"/>
    <dgm:cxn modelId="{4C0FB836-BB6B-4FD4-9000-6B9D9BDBE248}" type="presParOf" srcId="{76785044-0F1A-419A-B380-002163A22E73}" destId="{40606AC9-E436-4FD0-B511-61E61102A309}" srcOrd="1" destOrd="0" presId="urn:microsoft.com/office/officeart/2018/5/layout/IconCircleLabelList"/>
    <dgm:cxn modelId="{F930F065-C94A-4DB0-B4CF-F49BC7A3885F}" type="presParOf" srcId="{76785044-0F1A-419A-B380-002163A22E73}" destId="{C1CF8454-BDAB-475B-8CE0-7D6B9EBD499D}" srcOrd="2" destOrd="0" presId="urn:microsoft.com/office/officeart/2018/5/layout/IconCircleLabelList"/>
    <dgm:cxn modelId="{AA500CF4-4FC1-411C-9219-921FC420768E}" type="presParOf" srcId="{76785044-0F1A-419A-B380-002163A22E73}" destId="{D057A76A-8AD0-43C4-B830-AD7DB8E99572}" srcOrd="3" destOrd="0" presId="urn:microsoft.com/office/officeart/2018/5/layout/IconCircleLabelList"/>
    <dgm:cxn modelId="{BE3850E9-F411-422F-8D72-C2BDDCFBE912}" type="presParOf" srcId="{7E8822C0-04E6-4CB8-B018-A83E262D0407}" destId="{41D88CE6-313B-4252-9AE1-8B4509E86FB4}" srcOrd="5" destOrd="0" presId="urn:microsoft.com/office/officeart/2018/5/layout/IconCircleLabelList"/>
    <dgm:cxn modelId="{1918A584-D930-494C-9C81-388DE6F9D310}" type="presParOf" srcId="{7E8822C0-04E6-4CB8-B018-A83E262D0407}" destId="{61A3B166-1118-49EA-83D3-2D7FC5DA5D20}" srcOrd="6" destOrd="0" presId="urn:microsoft.com/office/officeart/2018/5/layout/IconCircleLabelList"/>
    <dgm:cxn modelId="{914FF806-4001-4D68-9A13-6626F7D41953}" type="presParOf" srcId="{61A3B166-1118-49EA-83D3-2D7FC5DA5D20}" destId="{4C04D732-D84E-4C54-B825-E8B67217FEDD}" srcOrd="0" destOrd="0" presId="urn:microsoft.com/office/officeart/2018/5/layout/IconCircleLabelList"/>
    <dgm:cxn modelId="{73FE04D7-446B-4CF5-B81F-A5638C8AA3B8}" type="presParOf" srcId="{61A3B166-1118-49EA-83D3-2D7FC5DA5D20}" destId="{745CFAE8-90AE-44FE-80A2-64B837D74EB9}" srcOrd="1" destOrd="0" presId="urn:microsoft.com/office/officeart/2018/5/layout/IconCircleLabelList"/>
    <dgm:cxn modelId="{31098C58-46C6-4026-8A7B-6509DB1AC0EA}" type="presParOf" srcId="{61A3B166-1118-49EA-83D3-2D7FC5DA5D20}" destId="{E9ECB4C6-2241-49AD-AB8B-39F1A99A2D63}" srcOrd="2" destOrd="0" presId="urn:microsoft.com/office/officeart/2018/5/layout/IconCircleLabelList"/>
    <dgm:cxn modelId="{B06D7A83-D095-4D51-8539-DF44843CC7CC}" type="presParOf" srcId="{61A3B166-1118-49EA-83D3-2D7FC5DA5D20}" destId="{9FC21140-6DE8-4E8D-B54A-5AE391F44A7F}" srcOrd="3" destOrd="0" presId="urn:microsoft.com/office/officeart/2018/5/layout/IconCircleLabelList"/>
    <dgm:cxn modelId="{81971DB4-E5AF-470A-88AB-794D3CE522E6}" type="presParOf" srcId="{7E8822C0-04E6-4CB8-B018-A83E262D0407}" destId="{3A4E0A0E-0D22-4247-9444-773D18D7D643}" srcOrd="7" destOrd="0" presId="urn:microsoft.com/office/officeart/2018/5/layout/IconCircleLabelList"/>
    <dgm:cxn modelId="{04CB66C3-8F9C-4281-80A6-08C8D6D47A46}" type="presParOf" srcId="{7E8822C0-04E6-4CB8-B018-A83E262D0407}" destId="{8BDBA990-8B3F-4DC4-938A-0783EEEDA28D}" srcOrd="8" destOrd="0" presId="urn:microsoft.com/office/officeart/2018/5/layout/IconCircleLabelList"/>
    <dgm:cxn modelId="{A15F09E8-EB26-49A5-9D63-6E40E81C4A26}" type="presParOf" srcId="{8BDBA990-8B3F-4DC4-938A-0783EEEDA28D}" destId="{E7751398-CEF9-4466-A6F1-ED4AE18395E5}" srcOrd="0" destOrd="0" presId="urn:microsoft.com/office/officeart/2018/5/layout/IconCircleLabelList"/>
    <dgm:cxn modelId="{F3524150-B744-4878-8982-89E8C9223398}" type="presParOf" srcId="{8BDBA990-8B3F-4DC4-938A-0783EEEDA28D}" destId="{1C9D9842-1A7B-4401-BDA4-9EB4F3FCE92A}" srcOrd="1" destOrd="0" presId="urn:microsoft.com/office/officeart/2018/5/layout/IconCircleLabelList"/>
    <dgm:cxn modelId="{CDABA55F-D8C1-4DFF-9048-D9FF3673FC22}" type="presParOf" srcId="{8BDBA990-8B3F-4DC4-938A-0783EEEDA28D}" destId="{CBA112D6-5B5F-4C72-9166-19E6B189F28A}" srcOrd="2" destOrd="0" presId="urn:microsoft.com/office/officeart/2018/5/layout/IconCircleLabelList"/>
    <dgm:cxn modelId="{0691E328-678C-492A-9917-01B0665DD710}" type="presParOf" srcId="{8BDBA990-8B3F-4DC4-938A-0783EEEDA28D}" destId="{BD43A13D-99E3-4F18-97FE-71EFAA7B43A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921F93-C9BF-4291-A333-6FB6A6819F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CC09AA-10C2-4142-8E92-0247CC71D17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L" sz="1800" noProof="0" dirty="0"/>
            <a:t>Este proyecto consiste en estudiar y desarrollar un análisis integral de un conjunto de datos de ventas de una tienda de </a:t>
          </a:r>
          <a:r>
            <a:rPr lang="es-CL" sz="1800" i="1" noProof="0" dirty="0" err="1"/>
            <a:t>retail</a:t>
          </a:r>
          <a:r>
            <a:rPr lang="es-CL" sz="1800" noProof="0" dirty="0"/>
            <a:t>.</a:t>
          </a:r>
        </a:p>
      </dgm:t>
    </dgm:pt>
    <dgm:pt modelId="{CFDE8266-345C-467E-B9A5-A397D847AA01}" type="parTrans" cxnId="{D73B14F6-D79B-481D-B049-EF6695F6C9AF}">
      <dgm:prSet/>
      <dgm:spPr/>
      <dgm:t>
        <a:bodyPr/>
        <a:lstStyle/>
        <a:p>
          <a:endParaRPr lang="en-US"/>
        </a:p>
      </dgm:t>
    </dgm:pt>
    <dgm:pt modelId="{01A0C00F-08A5-44B3-937A-F8DC6C733CF8}" type="sibTrans" cxnId="{D73B14F6-D79B-481D-B049-EF6695F6C9AF}">
      <dgm:prSet/>
      <dgm:spPr/>
      <dgm:t>
        <a:bodyPr/>
        <a:lstStyle/>
        <a:p>
          <a:endParaRPr lang="en-US"/>
        </a:p>
      </dgm:t>
    </dgm:pt>
    <dgm:pt modelId="{B32A6895-D0B8-477B-86DB-C322DD84756A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b="1" noProof="0" dirty="0"/>
            <a:t>Los objetivos son:</a:t>
          </a:r>
        </a:p>
      </dgm:t>
    </dgm:pt>
    <dgm:pt modelId="{00CF37A6-4B7B-4EEC-AF8D-E28E45966B06}" type="parTrans" cxnId="{EB3726F5-CCFE-438E-9856-87DF1DABE5EF}">
      <dgm:prSet/>
      <dgm:spPr/>
      <dgm:t>
        <a:bodyPr/>
        <a:lstStyle/>
        <a:p>
          <a:endParaRPr lang="en-US"/>
        </a:p>
      </dgm:t>
    </dgm:pt>
    <dgm:pt modelId="{66CD2716-BA93-4F2C-92B0-F1AFDE3BECAC}" type="sibTrans" cxnId="{EB3726F5-CCFE-438E-9856-87DF1DABE5EF}">
      <dgm:prSet/>
      <dgm:spPr/>
      <dgm:t>
        <a:bodyPr/>
        <a:lstStyle/>
        <a:p>
          <a:endParaRPr lang="en-US"/>
        </a:p>
      </dgm:t>
    </dgm:pt>
    <dgm:pt modelId="{1A3764A7-1E96-418F-9442-95B47696250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L" sz="1600" kern="120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Describir y analizar el conjunto de datos.</a:t>
          </a:r>
        </a:p>
        <a:p>
          <a:pPr>
            <a:lnSpc>
              <a:spcPct val="100000"/>
            </a:lnSpc>
          </a:pPr>
          <a:r>
            <a:rPr lang="es-CL" sz="1600" kern="120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Informar los principales hallazgos de la data.</a:t>
          </a:r>
        </a:p>
        <a:p>
          <a:pPr>
            <a:lnSpc>
              <a:spcPct val="100000"/>
            </a:lnSpc>
          </a:pPr>
          <a:r>
            <a:rPr lang="es-CL" sz="1600" kern="120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Concluir y recomendar acerca de análisis y hallazgos de la data. </a:t>
          </a:r>
        </a:p>
      </dgm:t>
    </dgm:pt>
    <dgm:pt modelId="{525B8E9F-8AA3-4C8D-BAF6-43E772BB6851}" type="parTrans" cxnId="{9BD0811D-D39F-4774-B6CB-BFF29F1185FF}">
      <dgm:prSet/>
      <dgm:spPr/>
      <dgm:t>
        <a:bodyPr/>
        <a:lstStyle/>
        <a:p>
          <a:endParaRPr lang="en-US"/>
        </a:p>
      </dgm:t>
    </dgm:pt>
    <dgm:pt modelId="{96BF7615-607A-4658-8BA1-D8F912EF3CA5}" type="sibTrans" cxnId="{9BD0811D-D39F-4774-B6CB-BFF29F1185FF}">
      <dgm:prSet/>
      <dgm:spPr/>
      <dgm:t>
        <a:bodyPr/>
        <a:lstStyle/>
        <a:p>
          <a:endParaRPr lang="en-US"/>
        </a:p>
      </dgm:t>
    </dgm:pt>
    <dgm:pt modelId="{8090F935-51A1-46C9-8E2E-39FF317B5FA3}" type="pres">
      <dgm:prSet presAssocID="{F6921F93-C9BF-4291-A333-6FB6A6819FA4}" presName="root" presStyleCnt="0">
        <dgm:presLayoutVars>
          <dgm:dir/>
          <dgm:resizeHandles val="exact"/>
        </dgm:presLayoutVars>
      </dgm:prSet>
      <dgm:spPr/>
    </dgm:pt>
    <dgm:pt modelId="{DC14058A-638C-44A8-B274-6DCF6D86A7C5}" type="pres">
      <dgm:prSet presAssocID="{F2CC09AA-10C2-4142-8E92-0247CC71D173}" presName="compNode" presStyleCnt="0"/>
      <dgm:spPr/>
    </dgm:pt>
    <dgm:pt modelId="{B440154E-8ABD-4C24-977A-833927EBF1CD}" type="pres">
      <dgm:prSet presAssocID="{F2CC09AA-10C2-4142-8E92-0247CC71D173}" presName="bgRect" presStyleLbl="bgShp" presStyleIdx="0" presStyleCnt="2"/>
      <dgm:spPr/>
    </dgm:pt>
    <dgm:pt modelId="{48167074-B7DF-467D-BB71-2AF5E0BE1080}" type="pres">
      <dgm:prSet presAssocID="{F2CC09AA-10C2-4142-8E92-0247CC71D17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F3C2EF5B-705D-40E5-B56E-6E824E4F6295}" type="pres">
      <dgm:prSet presAssocID="{F2CC09AA-10C2-4142-8E92-0247CC71D173}" presName="spaceRect" presStyleCnt="0"/>
      <dgm:spPr/>
    </dgm:pt>
    <dgm:pt modelId="{9714AD0B-7402-4125-B2BF-8BE1D0EE4F69}" type="pres">
      <dgm:prSet presAssocID="{F2CC09AA-10C2-4142-8E92-0247CC71D173}" presName="parTx" presStyleLbl="revTx" presStyleIdx="0" presStyleCnt="3">
        <dgm:presLayoutVars>
          <dgm:chMax val="0"/>
          <dgm:chPref val="0"/>
        </dgm:presLayoutVars>
      </dgm:prSet>
      <dgm:spPr/>
    </dgm:pt>
    <dgm:pt modelId="{D955A819-B8C1-4509-B5CB-C82ACE00BBA8}" type="pres">
      <dgm:prSet presAssocID="{01A0C00F-08A5-44B3-937A-F8DC6C733CF8}" presName="sibTrans" presStyleCnt="0"/>
      <dgm:spPr/>
    </dgm:pt>
    <dgm:pt modelId="{595E9F83-D261-42B9-8D59-5C620E28DFB1}" type="pres">
      <dgm:prSet presAssocID="{B32A6895-D0B8-477B-86DB-C322DD84756A}" presName="compNode" presStyleCnt="0"/>
      <dgm:spPr/>
    </dgm:pt>
    <dgm:pt modelId="{1D8C7A94-53BA-405E-9AC1-6EB269F083A2}" type="pres">
      <dgm:prSet presAssocID="{B32A6895-D0B8-477B-86DB-C322DD84756A}" presName="bgRect" presStyleLbl="bgShp" presStyleIdx="1" presStyleCnt="2" custScaleY="200982" custLinFactNeighborY="-1507"/>
      <dgm:spPr/>
    </dgm:pt>
    <dgm:pt modelId="{D27B3BC7-86A5-41DC-9480-0F3434384C8D}" type="pres">
      <dgm:prSet presAssocID="{B32A6895-D0B8-477B-86DB-C322DD84756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so panda"/>
        </a:ext>
      </dgm:extLst>
    </dgm:pt>
    <dgm:pt modelId="{194FE311-CA51-44B7-8889-D7929A5C9B3E}" type="pres">
      <dgm:prSet presAssocID="{B32A6895-D0B8-477B-86DB-C322DD84756A}" presName="spaceRect" presStyleCnt="0"/>
      <dgm:spPr/>
    </dgm:pt>
    <dgm:pt modelId="{3174749E-4D40-4542-92CE-F885476820E5}" type="pres">
      <dgm:prSet presAssocID="{B32A6895-D0B8-477B-86DB-C322DD84756A}" presName="parTx" presStyleLbl="revTx" presStyleIdx="1" presStyleCnt="3">
        <dgm:presLayoutVars>
          <dgm:chMax val="0"/>
          <dgm:chPref val="0"/>
        </dgm:presLayoutVars>
      </dgm:prSet>
      <dgm:spPr/>
    </dgm:pt>
    <dgm:pt modelId="{7B35F881-729B-479C-8DD2-AC078995B9E0}" type="pres">
      <dgm:prSet presAssocID="{B32A6895-D0B8-477B-86DB-C322DD84756A}" presName="desTx" presStyleLbl="revTx" presStyleIdx="2" presStyleCnt="3" custScaleY="200982">
        <dgm:presLayoutVars/>
      </dgm:prSet>
      <dgm:spPr/>
    </dgm:pt>
  </dgm:ptLst>
  <dgm:cxnLst>
    <dgm:cxn modelId="{DEFA9F09-D0FE-455C-82C8-3BD267520C7A}" type="presOf" srcId="{B32A6895-D0B8-477B-86DB-C322DD84756A}" destId="{3174749E-4D40-4542-92CE-F885476820E5}" srcOrd="0" destOrd="0" presId="urn:microsoft.com/office/officeart/2018/2/layout/IconVerticalSolidList"/>
    <dgm:cxn modelId="{2AD45D13-EAC8-414F-B54D-93816B5115FE}" type="presOf" srcId="{F6921F93-C9BF-4291-A333-6FB6A6819FA4}" destId="{8090F935-51A1-46C9-8E2E-39FF317B5FA3}" srcOrd="0" destOrd="0" presId="urn:microsoft.com/office/officeart/2018/2/layout/IconVerticalSolidList"/>
    <dgm:cxn modelId="{9BD0811D-D39F-4774-B6CB-BFF29F1185FF}" srcId="{B32A6895-D0B8-477B-86DB-C322DD84756A}" destId="{1A3764A7-1E96-418F-9442-95B476962504}" srcOrd="0" destOrd="0" parTransId="{525B8E9F-8AA3-4C8D-BAF6-43E772BB6851}" sibTransId="{96BF7615-607A-4658-8BA1-D8F912EF3CA5}"/>
    <dgm:cxn modelId="{09F97B5B-497A-4B62-9898-3DCA67224721}" type="presOf" srcId="{F2CC09AA-10C2-4142-8E92-0247CC71D173}" destId="{9714AD0B-7402-4125-B2BF-8BE1D0EE4F69}" srcOrd="0" destOrd="0" presId="urn:microsoft.com/office/officeart/2018/2/layout/IconVerticalSolidList"/>
    <dgm:cxn modelId="{46F72B85-8786-486E-93FB-9D9E84AEC365}" type="presOf" srcId="{1A3764A7-1E96-418F-9442-95B476962504}" destId="{7B35F881-729B-479C-8DD2-AC078995B9E0}" srcOrd="0" destOrd="0" presId="urn:microsoft.com/office/officeart/2018/2/layout/IconVerticalSolidList"/>
    <dgm:cxn modelId="{EB3726F5-CCFE-438E-9856-87DF1DABE5EF}" srcId="{F6921F93-C9BF-4291-A333-6FB6A6819FA4}" destId="{B32A6895-D0B8-477B-86DB-C322DD84756A}" srcOrd="1" destOrd="0" parTransId="{00CF37A6-4B7B-4EEC-AF8D-E28E45966B06}" sibTransId="{66CD2716-BA93-4F2C-92B0-F1AFDE3BECAC}"/>
    <dgm:cxn modelId="{D73B14F6-D79B-481D-B049-EF6695F6C9AF}" srcId="{F6921F93-C9BF-4291-A333-6FB6A6819FA4}" destId="{F2CC09AA-10C2-4142-8E92-0247CC71D173}" srcOrd="0" destOrd="0" parTransId="{CFDE8266-345C-467E-B9A5-A397D847AA01}" sibTransId="{01A0C00F-08A5-44B3-937A-F8DC6C733CF8}"/>
    <dgm:cxn modelId="{45D9C38A-B438-4B5D-83FA-C986A540CA5A}" type="presParOf" srcId="{8090F935-51A1-46C9-8E2E-39FF317B5FA3}" destId="{DC14058A-638C-44A8-B274-6DCF6D86A7C5}" srcOrd="0" destOrd="0" presId="urn:microsoft.com/office/officeart/2018/2/layout/IconVerticalSolidList"/>
    <dgm:cxn modelId="{FC443E57-8689-455D-A753-E08AD6F054F2}" type="presParOf" srcId="{DC14058A-638C-44A8-B274-6DCF6D86A7C5}" destId="{B440154E-8ABD-4C24-977A-833927EBF1CD}" srcOrd="0" destOrd="0" presId="urn:microsoft.com/office/officeart/2018/2/layout/IconVerticalSolidList"/>
    <dgm:cxn modelId="{71D38937-F873-455A-934F-F21ECA693259}" type="presParOf" srcId="{DC14058A-638C-44A8-B274-6DCF6D86A7C5}" destId="{48167074-B7DF-467D-BB71-2AF5E0BE1080}" srcOrd="1" destOrd="0" presId="urn:microsoft.com/office/officeart/2018/2/layout/IconVerticalSolidList"/>
    <dgm:cxn modelId="{4B0C51F0-0BDD-4068-A109-F999EEF9AB94}" type="presParOf" srcId="{DC14058A-638C-44A8-B274-6DCF6D86A7C5}" destId="{F3C2EF5B-705D-40E5-B56E-6E824E4F6295}" srcOrd="2" destOrd="0" presId="urn:microsoft.com/office/officeart/2018/2/layout/IconVerticalSolidList"/>
    <dgm:cxn modelId="{5B71E909-F170-410D-8A7C-B140F3F86CDE}" type="presParOf" srcId="{DC14058A-638C-44A8-B274-6DCF6D86A7C5}" destId="{9714AD0B-7402-4125-B2BF-8BE1D0EE4F69}" srcOrd="3" destOrd="0" presId="urn:microsoft.com/office/officeart/2018/2/layout/IconVerticalSolidList"/>
    <dgm:cxn modelId="{93688540-FDE2-4C7A-8125-C332DC6DCB39}" type="presParOf" srcId="{8090F935-51A1-46C9-8E2E-39FF317B5FA3}" destId="{D955A819-B8C1-4509-B5CB-C82ACE00BBA8}" srcOrd="1" destOrd="0" presId="urn:microsoft.com/office/officeart/2018/2/layout/IconVerticalSolidList"/>
    <dgm:cxn modelId="{9CC2136B-B667-441E-ADD5-E30B8326B9D8}" type="presParOf" srcId="{8090F935-51A1-46C9-8E2E-39FF317B5FA3}" destId="{595E9F83-D261-42B9-8D59-5C620E28DFB1}" srcOrd="2" destOrd="0" presId="urn:microsoft.com/office/officeart/2018/2/layout/IconVerticalSolidList"/>
    <dgm:cxn modelId="{6B0A2E0A-64E1-49B5-B930-1AEEB49B8D38}" type="presParOf" srcId="{595E9F83-D261-42B9-8D59-5C620E28DFB1}" destId="{1D8C7A94-53BA-405E-9AC1-6EB269F083A2}" srcOrd="0" destOrd="0" presId="urn:microsoft.com/office/officeart/2018/2/layout/IconVerticalSolidList"/>
    <dgm:cxn modelId="{803C809E-6BD2-4E28-ADA8-06F73E4824B1}" type="presParOf" srcId="{595E9F83-D261-42B9-8D59-5C620E28DFB1}" destId="{D27B3BC7-86A5-41DC-9480-0F3434384C8D}" srcOrd="1" destOrd="0" presId="urn:microsoft.com/office/officeart/2018/2/layout/IconVerticalSolidList"/>
    <dgm:cxn modelId="{8BB81AFD-8FB3-47B7-A64F-0355E0BC6067}" type="presParOf" srcId="{595E9F83-D261-42B9-8D59-5C620E28DFB1}" destId="{194FE311-CA51-44B7-8889-D7929A5C9B3E}" srcOrd="2" destOrd="0" presId="urn:microsoft.com/office/officeart/2018/2/layout/IconVerticalSolidList"/>
    <dgm:cxn modelId="{A05DB988-B591-4352-B10B-9AE01D4DDAEB}" type="presParOf" srcId="{595E9F83-D261-42B9-8D59-5C620E28DFB1}" destId="{3174749E-4D40-4542-92CE-F885476820E5}" srcOrd="3" destOrd="0" presId="urn:microsoft.com/office/officeart/2018/2/layout/IconVerticalSolidList"/>
    <dgm:cxn modelId="{16380407-D665-4759-8042-A97A94D75246}" type="presParOf" srcId="{595E9F83-D261-42B9-8D59-5C620E28DFB1}" destId="{7B35F881-729B-479C-8DD2-AC078995B9E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A4497D-C97A-4515-8B3D-C30D5567A96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D07904-5579-4711-9298-C36ABEA841CE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Este conjunto de datos es una instantánea de un panorama minorista ficticio, capturando atributos esenciales que impulsan las operaciones minoristas y las interacciones con los clientes.</a:t>
          </a:r>
        </a:p>
      </dgm:t>
    </dgm:pt>
    <dgm:pt modelId="{7A41DBEC-29D2-4B8D-9CC9-B5A86E525CEB}" type="parTrans" cxnId="{91944072-65CC-4980-ACED-A2B23EF5AD89}">
      <dgm:prSet/>
      <dgm:spPr/>
      <dgm:t>
        <a:bodyPr/>
        <a:lstStyle/>
        <a:p>
          <a:endParaRPr lang="en-US"/>
        </a:p>
      </dgm:t>
    </dgm:pt>
    <dgm:pt modelId="{76FCCDFC-0292-4EB0-B839-1F16B6CA62CC}" type="sibTrans" cxnId="{91944072-65CC-4980-ACED-A2B23EF5AD89}">
      <dgm:prSet/>
      <dgm:spPr/>
      <dgm:t>
        <a:bodyPr/>
        <a:lstStyle/>
        <a:p>
          <a:endParaRPr lang="en-US"/>
        </a:p>
      </dgm:t>
    </dgm:pt>
    <dgm:pt modelId="{7B8B7AC5-672F-441B-AF2B-2BE29010E9F0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Incluye detalles clave como ID de transacción, fecha, ID de cliente, género, edad, categoría de producto, cantidad, precio por unidad y cantidad total.</a:t>
          </a:r>
        </a:p>
      </dgm:t>
    </dgm:pt>
    <dgm:pt modelId="{403270F1-E530-471B-8704-56C875B476D9}" type="parTrans" cxnId="{83A8535B-4E6B-408B-BC24-8B9E79827B61}">
      <dgm:prSet/>
      <dgm:spPr/>
      <dgm:t>
        <a:bodyPr/>
        <a:lstStyle/>
        <a:p>
          <a:endParaRPr lang="en-US"/>
        </a:p>
      </dgm:t>
    </dgm:pt>
    <dgm:pt modelId="{782E7876-22DD-48F4-B99B-104435677B41}" type="sibTrans" cxnId="{83A8535B-4E6B-408B-BC24-8B9E79827B61}">
      <dgm:prSet/>
      <dgm:spPr/>
      <dgm:t>
        <a:bodyPr/>
        <a:lstStyle/>
        <a:p>
          <a:endParaRPr lang="en-US"/>
        </a:p>
      </dgm:t>
    </dgm:pt>
    <dgm:pt modelId="{0B1ECCFE-8056-4EC5-A755-A953671C48D2}">
      <dgm:prSet/>
      <dgm:spPr/>
      <dgm:t>
        <a:bodyPr/>
        <a:lstStyle/>
        <a:p>
          <a:pPr>
            <a:lnSpc>
              <a:spcPct val="100000"/>
            </a:lnSpc>
          </a:pPr>
          <a:r>
            <a:rPr lang="es-CL" noProof="0" dirty="0"/>
            <a:t>Estas características permiten una exploración multifacética de las tendencias de ventas, influencias demográficas y comportamientos de compra.</a:t>
          </a:r>
        </a:p>
      </dgm:t>
    </dgm:pt>
    <dgm:pt modelId="{167F3B5A-8F71-471F-A8FA-01C41FF26B53}" type="parTrans" cxnId="{4E64E81F-8C9E-4E53-A32F-8CF60E1226BE}">
      <dgm:prSet/>
      <dgm:spPr/>
      <dgm:t>
        <a:bodyPr/>
        <a:lstStyle/>
        <a:p>
          <a:endParaRPr lang="en-US"/>
        </a:p>
      </dgm:t>
    </dgm:pt>
    <dgm:pt modelId="{42594431-2AF1-4AE9-9214-764F0C0FF985}" type="sibTrans" cxnId="{4E64E81F-8C9E-4E53-A32F-8CF60E1226BE}">
      <dgm:prSet/>
      <dgm:spPr/>
      <dgm:t>
        <a:bodyPr/>
        <a:lstStyle/>
        <a:p>
          <a:endParaRPr lang="en-US"/>
        </a:p>
      </dgm:t>
    </dgm:pt>
    <dgm:pt modelId="{BC52C38D-5832-4FF0-8482-AB2EE77878F6}" type="pres">
      <dgm:prSet presAssocID="{6EA4497D-C97A-4515-8B3D-C30D5567A96B}" presName="root" presStyleCnt="0">
        <dgm:presLayoutVars>
          <dgm:dir/>
          <dgm:resizeHandles val="exact"/>
        </dgm:presLayoutVars>
      </dgm:prSet>
      <dgm:spPr/>
    </dgm:pt>
    <dgm:pt modelId="{DCB63BFA-9397-4195-8D4D-C93D6CE39CE4}" type="pres">
      <dgm:prSet presAssocID="{83D07904-5579-4711-9298-C36ABEA841CE}" presName="compNode" presStyleCnt="0"/>
      <dgm:spPr/>
    </dgm:pt>
    <dgm:pt modelId="{38039E12-BD9C-4263-ABFA-0AEA84C352E7}" type="pres">
      <dgm:prSet presAssocID="{83D07904-5579-4711-9298-C36ABEA841CE}" presName="bgRect" presStyleLbl="bgShp" presStyleIdx="0" presStyleCnt="3"/>
      <dgm:spPr/>
    </dgm:pt>
    <dgm:pt modelId="{44861918-2A7C-41A3-B917-8C30818DD43C}" type="pres">
      <dgm:prSet presAssocID="{83D07904-5579-4711-9298-C36ABEA841C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dor"/>
        </a:ext>
      </dgm:extLst>
    </dgm:pt>
    <dgm:pt modelId="{24A7F43F-3090-4D06-AFA8-016F5BA81D97}" type="pres">
      <dgm:prSet presAssocID="{83D07904-5579-4711-9298-C36ABEA841CE}" presName="spaceRect" presStyleCnt="0"/>
      <dgm:spPr/>
    </dgm:pt>
    <dgm:pt modelId="{68C5F234-9745-4306-B235-CB2E32DF8E17}" type="pres">
      <dgm:prSet presAssocID="{83D07904-5579-4711-9298-C36ABEA841CE}" presName="parTx" presStyleLbl="revTx" presStyleIdx="0" presStyleCnt="3">
        <dgm:presLayoutVars>
          <dgm:chMax val="0"/>
          <dgm:chPref val="0"/>
        </dgm:presLayoutVars>
      </dgm:prSet>
      <dgm:spPr/>
    </dgm:pt>
    <dgm:pt modelId="{9637B335-5258-4CE1-9235-B7C84CB6AAC4}" type="pres">
      <dgm:prSet presAssocID="{76FCCDFC-0292-4EB0-B839-1F16B6CA62CC}" presName="sibTrans" presStyleCnt="0"/>
      <dgm:spPr/>
    </dgm:pt>
    <dgm:pt modelId="{639C094E-3388-443E-B6C4-32E2DF567AD1}" type="pres">
      <dgm:prSet presAssocID="{7B8B7AC5-672F-441B-AF2B-2BE29010E9F0}" presName="compNode" presStyleCnt="0"/>
      <dgm:spPr/>
    </dgm:pt>
    <dgm:pt modelId="{03D34302-CC72-4A80-959A-C2620FAD2D71}" type="pres">
      <dgm:prSet presAssocID="{7B8B7AC5-672F-441B-AF2B-2BE29010E9F0}" presName="bgRect" presStyleLbl="bgShp" presStyleIdx="1" presStyleCnt="3"/>
      <dgm:spPr/>
    </dgm:pt>
    <dgm:pt modelId="{CD87B46F-5F37-4EDB-8825-AF9ADDCEA131}" type="pres">
      <dgm:prSet presAssocID="{7B8B7AC5-672F-441B-AF2B-2BE29010E9F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72DDB71-97E2-4117-B92E-A19609888527}" type="pres">
      <dgm:prSet presAssocID="{7B8B7AC5-672F-441B-AF2B-2BE29010E9F0}" presName="spaceRect" presStyleCnt="0"/>
      <dgm:spPr/>
    </dgm:pt>
    <dgm:pt modelId="{1CD7B177-03C5-47E2-B717-0741AD203F32}" type="pres">
      <dgm:prSet presAssocID="{7B8B7AC5-672F-441B-AF2B-2BE29010E9F0}" presName="parTx" presStyleLbl="revTx" presStyleIdx="1" presStyleCnt="3">
        <dgm:presLayoutVars>
          <dgm:chMax val="0"/>
          <dgm:chPref val="0"/>
        </dgm:presLayoutVars>
      </dgm:prSet>
      <dgm:spPr/>
    </dgm:pt>
    <dgm:pt modelId="{D9B58F6A-2ECF-4A21-9A55-6C017B985230}" type="pres">
      <dgm:prSet presAssocID="{782E7876-22DD-48F4-B99B-104435677B41}" presName="sibTrans" presStyleCnt="0"/>
      <dgm:spPr/>
    </dgm:pt>
    <dgm:pt modelId="{62A00CAC-7946-450A-B0DF-B51098B9D7B6}" type="pres">
      <dgm:prSet presAssocID="{0B1ECCFE-8056-4EC5-A755-A953671C48D2}" presName="compNode" presStyleCnt="0"/>
      <dgm:spPr/>
    </dgm:pt>
    <dgm:pt modelId="{2F9F909E-6B9C-4D16-87CE-9095F7EFBBA6}" type="pres">
      <dgm:prSet presAssocID="{0B1ECCFE-8056-4EC5-A755-A953671C48D2}" presName="bgRect" presStyleLbl="bgShp" presStyleIdx="2" presStyleCnt="3"/>
      <dgm:spPr/>
    </dgm:pt>
    <dgm:pt modelId="{2D1FAAA7-C905-4DB5-A1B0-60FB766A7555}" type="pres">
      <dgm:prSet presAssocID="{0B1ECCFE-8056-4EC5-A755-A953671C48D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3FA7D1E-8BF5-4753-8FDB-29BAA31461A7}" type="pres">
      <dgm:prSet presAssocID="{0B1ECCFE-8056-4EC5-A755-A953671C48D2}" presName="spaceRect" presStyleCnt="0"/>
      <dgm:spPr/>
    </dgm:pt>
    <dgm:pt modelId="{E048C276-B4CD-4501-9A30-C1B62826004D}" type="pres">
      <dgm:prSet presAssocID="{0B1ECCFE-8056-4EC5-A755-A953671C48D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E64E81F-8C9E-4E53-A32F-8CF60E1226BE}" srcId="{6EA4497D-C97A-4515-8B3D-C30D5567A96B}" destId="{0B1ECCFE-8056-4EC5-A755-A953671C48D2}" srcOrd="2" destOrd="0" parTransId="{167F3B5A-8F71-471F-A8FA-01C41FF26B53}" sibTransId="{42594431-2AF1-4AE9-9214-764F0C0FF985}"/>
    <dgm:cxn modelId="{83A8535B-4E6B-408B-BC24-8B9E79827B61}" srcId="{6EA4497D-C97A-4515-8B3D-C30D5567A96B}" destId="{7B8B7AC5-672F-441B-AF2B-2BE29010E9F0}" srcOrd="1" destOrd="0" parTransId="{403270F1-E530-471B-8704-56C875B476D9}" sibTransId="{782E7876-22DD-48F4-B99B-104435677B41}"/>
    <dgm:cxn modelId="{91944072-65CC-4980-ACED-A2B23EF5AD89}" srcId="{6EA4497D-C97A-4515-8B3D-C30D5567A96B}" destId="{83D07904-5579-4711-9298-C36ABEA841CE}" srcOrd="0" destOrd="0" parTransId="{7A41DBEC-29D2-4B8D-9CC9-B5A86E525CEB}" sibTransId="{76FCCDFC-0292-4EB0-B839-1F16B6CA62CC}"/>
    <dgm:cxn modelId="{75F49F74-322A-4FB3-AAAB-6E616D58035A}" type="presOf" srcId="{7B8B7AC5-672F-441B-AF2B-2BE29010E9F0}" destId="{1CD7B177-03C5-47E2-B717-0741AD203F32}" srcOrd="0" destOrd="0" presId="urn:microsoft.com/office/officeart/2018/2/layout/IconVerticalSolidList"/>
    <dgm:cxn modelId="{98BC1B8C-C326-4F38-989B-8D58C52036C2}" type="presOf" srcId="{83D07904-5579-4711-9298-C36ABEA841CE}" destId="{68C5F234-9745-4306-B235-CB2E32DF8E17}" srcOrd="0" destOrd="0" presId="urn:microsoft.com/office/officeart/2018/2/layout/IconVerticalSolidList"/>
    <dgm:cxn modelId="{76E583B2-92AB-40FF-9554-7D149E2E67CF}" type="presOf" srcId="{0B1ECCFE-8056-4EC5-A755-A953671C48D2}" destId="{E048C276-B4CD-4501-9A30-C1B62826004D}" srcOrd="0" destOrd="0" presId="urn:microsoft.com/office/officeart/2018/2/layout/IconVerticalSolidList"/>
    <dgm:cxn modelId="{F8B8B8FC-E847-4B2B-BE57-7BCC520F4B9A}" type="presOf" srcId="{6EA4497D-C97A-4515-8B3D-C30D5567A96B}" destId="{BC52C38D-5832-4FF0-8482-AB2EE77878F6}" srcOrd="0" destOrd="0" presId="urn:microsoft.com/office/officeart/2018/2/layout/IconVerticalSolidList"/>
    <dgm:cxn modelId="{75B72AB4-A317-4FFC-ACD7-F8770B8717C3}" type="presParOf" srcId="{BC52C38D-5832-4FF0-8482-AB2EE77878F6}" destId="{DCB63BFA-9397-4195-8D4D-C93D6CE39CE4}" srcOrd="0" destOrd="0" presId="urn:microsoft.com/office/officeart/2018/2/layout/IconVerticalSolidList"/>
    <dgm:cxn modelId="{F8BCC8D3-3509-4508-AB96-2D5927AACCD7}" type="presParOf" srcId="{DCB63BFA-9397-4195-8D4D-C93D6CE39CE4}" destId="{38039E12-BD9C-4263-ABFA-0AEA84C352E7}" srcOrd="0" destOrd="0" presId="urn:microsoft.com/office/officeart/2018/2/layout/IconVerticalSolidList"/>
    <dgm:cxn modelId="{D25FF156-1B34-4819-B74A-74F5626B58A3}" type="presParOf" srcId="{DCB63BFA-9397-4195-8D4D-C93D6CE39CE4}" destId="{44861918-2A7C-41A3-B917-8C30818DD43C}" srcOrd="1" destOrd="0" presId="urn:microsoft.com/office/officeart/2018/2/layout/IconVerticalSolidList"/>
    <dgm:cxn modelId="{C7467FD5-354E-461D-BE1E-E20BC383047A}" type="presParOf" srcId="{DCB63BFA-9397-4195-8D4D-C93D6CE39CE4}" destId="{24A7F43F-3090-4D06-AFA8-016F5BA81D97}" srcOrd="2" destOrd="0" presId="urn:microsoft.com/office/officeart/2018/2/layout/IconVerticalSolidList"/>
    <dgm:cxn modelId="{9414C442-3805-4639-B70B-D92FB4180855}" type="presParOf" srcId="{DCB63BFA-9397-4195-8D4D-C93D6CE39CE4}" destId="{68C5F234-9745-4306-B235-CB2E32DF8E17}" srcOrd="3" destOrd="0" presId="urn:microsoft.com/office/officeart/2018/2/layout/IconVerticalSolidList"/>
    <dgm:cxn modelId="{38848D47-BB74-4781-9918-796B76E7CD4C}" type="presParOf" srcId="{BC52C38D-5832-4FF0-8482-AB2EE77878F6}" destId="{9637B335-5258-4CE1-9235-B7C84CB6AAC4}" srcOrd="1" destOrd="0" presId="urn:microsoft.com/office/officeart/2018/2/layout/IconVerticalSolidList"/>
    <dgm:cxn modelId="{4D1D7B51-6992-4490-99A3-4F1B6572938B}" type="presParOf" srcId="{BC52C38D-5832-4FF0-8482-AB2EE77878F6}" destId="{639C094E-3388-443E-B6C4-32E2DF567AD1}" srcOrd="2" destOrd="0" presId="urn:microsoft.com/office/officeart/2018/2/layout/IconVerticalSolidList"/>
    <dgm:cxn modelId="{483BF0C3-6768-42F8-A8E2-E4EC024D5186}" type="presParOf" srcId="{639C094E-3388-443E-B6C4-32E2DF567AD1}" destId="{03D34302-CC72-4A80-959A-C2620FAD2D71}" srcOrd="0" destOrd="0" presId="urn:microsoft.com/office/officeart/2018/2/layout/IconVerticalSolidList"/>
    <dgm:cxn modelId="{47C0239B-57F8-48F6-87F0-B97A4431300D}" type="presParOf" srcId="{639C094E-3388-443E-B6C4-32E2DF567AD1}" destId="{CD87B46F-5F37-4EDB-8825-AF9ADDCEA131}" srcOrd="1" destOrd="0" presId="urn:microsoft.com/office/officeart/2018/2/layout/IconVerticalSolidList"/>
    <dgm:cxn modelId="{1F5A7ED6-8DA2-4386-B7E9-23D00A6AFAF9}" type="presParOf" srcId="{639C094E-3388-443E-B6C4-32E2DF567AD1}" destId="{372DDB71-97E2-4117-B92E-A19609888527}" srcOrd="2" destOrd="0" presId="urn:microsoft.com/office/officeart/2018/2/layout/IconVerticalSolidList"/>
    <dgm:cxn modelId="{CA61E8B5-A3CE-40EC-8AFF-56FF14757C33}" type="presParOf" srcId="{639C094E-3388-443E-B6C4-32E2DF567AD1}" destId="{1CD7B177-03C5-47E2-B717-0741AD203F32}" srcOrd="3" destOrd="0" presId="urn:microsoft.com/office/officeart/2018/2/layout/IconVerticalSolidList"/>
    <dgm:cxn modelId="{B3A3EC4E-222C-455F-85DE-D2F37B6105F2}" type="presParOf" srcId="{BC52C38D-5832-4FF0-8482-AB2EE77878F6}" destId="{D9B58F6A-2ECF-4A21-9A55-6C017B985230}" srcOrd="3" destOrd="0" presId="urn:microsoft.com/office/officeart/2018/2/layout/IconVerticalSolidList"/>
    <dgm:cxn modelId="{41F4212E-467C-4CA2-A826-D9C265836B1D}" type="presParOf" srcId="{BC52C38D-5832-4FF0-8482-AB2EE77878F6}" destId="{62A00CAC-7946-450A-B0DF-B51098B9D7B6}" srcOrd="4" destOrd="0" presId="urn:microsoft.com/office/officeart/2018/2/layout/IconVerticalSolidList"/>
    <dgm:cxn modelId="{1D601A13-7089-4131-BECC-CF8535E38311}" type="presParOf" srcId="{62A00CAC-7946-450A-B0DF-B51098B9D7B6}" destId="{2F9F909E-6B9C-4D16-87CE-9095F7EFBBA6}" srcOrd="0" destOrd="0" presId="urn:microsoft.com/office/officeart/2018/2/layout/IconVerticalSolidList"/>
    <dgm:cxn modelId="{84540029-02C2-4B3D-AEAD-FF2F1EFCFD39}" type="presParOf" srcId="{62A00CAC-7946-450A-B0DF-B51098B9D7B6}" destId="{2D1FAAA7-C905-4DB5-A1B0-60FB766A7555}" srcOrd="1" destOrd="0" presId="urn:microsoft.com/office/officeart/2018/2/layout/IconVerticalSolidList"/>
    <dgm:cxn modelId="{D999A72B-C31B-46CF-8770-BE5DB3B51466}" type="presParOf" srcId="{62A00CAC-7946-450A-B0DF-B51098B9D7B6}" destId="{B3FA7D1E-8BF5-4753-8FDB-29BAA31461A7}" srcOrd="2" destOrd="0" presId="urn:microsoft.com/office/officeart/2018/2/layout/IconVerticalSolidList"/>
    <dgm:cxn modelId="{1C61659F-00DD-404F-9832-0A2F3E503FAB}" type="presParOf" srcId="{62A00CAC-7946-450A-B0DF-B51098B9D7B6}" destId="{E048C276-B4CD-4501-9A30-C1B62826004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3415AD-3C05-4603-89C3-F091217F4B3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CED763-6EFB-4C95-8DE2-8E0809470CB1}">
      <dgm:prSet/>
      <dgm:spPr/>
      <dgm:t>
        <a:bodyPr/>
        <a:lstStyle/>
        <a:p>
          <a:r>
            <a:rPr lang="es-ES"/>
            <a:t>De acuerdo con el análisis de la data, las principales conclusiones o comentarios son los siguientes:</a:t>
          </a:r>
          <a:endParaRPr lang="en-US"/>
        </a:p>
      </dgm:t>
    </dgm:pt>
    <dgm:pt modelId="{5C0148A5-B72D-4133-A5DB-F61C6289549D}" type="parTrans" cxnId="{34AEA3BA-45AD-47C9-B0EE-ECCC98E3E673}">
      <dgm:prSet/>
      <dgm:spPr/>
      <dgm:t>
        <a:bodyPr/>
        <a:lstStyle/>
        <a:p>
          <a:endParaRPr lang="en-US"/>
        </a:p>
      </dgm:t>
    </dgm:pt>
    <dgm:pt modelId="{A6F824AE-5FA6-44FD-8803-4BFB6B8254FA}" type="sibTrans" cxnId="{34AEA3BA-45AD-47C9-B0EE-ECCC98E3E673}">
      <dgm:prSet/>
      <dgm:spPr/>
      <dgm:t>
        <a:bodyPr/>
        <a:lstStyle/>
        <a:p>
          <a:endParaRPr lang="en-US"/>
        </a:p>
      </dgm:t>
    </dgm:pt>
    <dgm:pt modelId="{3FD55711-6EB1-4C16-A24F-6FB01557A729}">
      <dgm:prSet custT="1"/>
      <dgm:spPr/>
      <dgm:t>
        <a:bodyPr/>
        <a:lstStyle/>
        <a:p>
          <a:r>
            <a:rPr lang="es-ES" sz="1200" dirty="0"/>
            <a:t>En relación con la limpieza:</a:t>
          </a:r>
          <a:endParaRPr lang="en-US" sz="1200" dirty="0"/>
        </a:p>
      </dgm:t>
    </dgm:pt>
    <dgm:pt modelId="{94C9A157-D88B-4140-9B00-DEF0960356CB}" type="parTrans" cxnId="{8BCD1C2B-A4D0-4AA0-AE84-21D57EEF96EE}">
      <dgm:prSet/>
      <dgm:spPr/>
      <dgm:t>
        <a:bodyPr/>
        <a:lstStyle/>
        <a:p>
          <a:endParaRPr lang="en-US"/>
        </a:p>
      </dgm:t>
    </dgm:pt>
    <dgm:pt modelId="{C76F35E3-9A9D-425F-A269-05F5243E1262}" type="sibTrans" cxnId="{8BCD1C2B-A4D0-4AA0-AE84-21D57EEF96EE}">
      <dgm:prSet/>
      <dgm:spPr/>
      <dgm:t>
        <a:bodyPr/>
        <a:lstStyle/>
        <a:p>
          <a:endParaRPr lang="en-US"/>
        </a:p>
      </dgm:t>
    </dgm:pt>
    <dgm:pt modelId="{16394539-0034-4393-A474-940CBC82F356}">
      <dgm:prSet custT="1"/>
      <dgm:spPr/>
      <dgm:t>
        <a:bodyPr/>
        <a:lstStyle/>
        <a:p>
          <a:r>
            <a:rPr lang="es-ES" sz="1200" dirty="0"/>
            <a:t>La data recopilada no presenta errores de ingreso o corrupción de datos, no se eliminaron datos.</a:t>
          </a:r>
          <a:endParaRPr lang="en-US" sz="1200" dirty="0"/>
        </a:p>
      </dgm:t>
    </dgm:pt>
    <dgm:pt modelId="{8824BB7D-4197-43AB-AD8F-AA03C756184C}" type="parTrans" cxnId="{75A20274-9A74-4001-B9BB-0067530A97C1}">
      <dgm:prSet/>
      <dgm:spPr/>
      <dgm:t>
        <a:bodyPr/>
        <a:lstStyle/>
        <a:p>
          <a:endParaRPr lang="en-US"/>
        </a:p>
      </dgm:t>
    </dgm:pt>
    <dgm:pt modelId="{8BC1419A-1F42-4B37-9DAB-BAC350EDC1D6}" type="sibTrans" cxnId="{75A20274-9A74-4001-B9BB-0067530A97C1}">
      <dgm:prSet/>
      <dgm:spPr/>
      <dgm:t>
        <a:bodyPr/>
        <a:lstStyle/>
        <a:p>
          <a:endParaRPr lang="en-US"/>
        </a:p>
      </dgm:t>
    </dgm:pt>
    <dgm:pt modelId="{DBBF0908-0482-44E0-BB94-22C4B147E59B}">
      <dgm:prSet custT="1"/>
      <dgm:spPr/>
      <dgm:t>
        <a:bodyPr/>
        <a:lstStyle/>
        <a:p>
          <a:r>
            <a:rPr lang="es-ES" sz="1200" dirty="0"/>
            <a:t>No existen datos duplicado y </a:t>
          </a:r>
          <a:r>
            <a:rPr lang="es-ES" sz="1200" dirty="0" err="1"/>
            <a:t>outlier</a:t>
          </a:r>
          <a:r>
            <a:rPr lang="es-ES" sz="1200" dirty="0"/>
            <a:t> relevantes.</a:t>
          </a:r>
          <a:endParaRPr lang="en-US" sz="1200" dirty="0"/>
        </a:p>
      </dgm:t>
    </dgm:pt>
    <dgm:pt modelId="{CED2D01E-D0E8-48B8-A3DF-BD9DCFF859D3}" type="parTrans" cxnId="{847F6990-0BCC-4748-AEE7-2797586C4066}">
      <dgm:prSet/>
      <dgm:spPr/>
      <dgm:t>
        <a:bodyPr/>
        <a:lstStyle/>
        <a:p>
          <a:endParaRPr lang="en-US"/>
        </a:p>
      </dgm:t>
    </dgm:pt>
    <dgm:pt modelId="{E7DF8C0E-07BB-48D3-AFF6-23457EA69C16}" type="sibTrans" cxnId="{847F6990-0BCC-4748-AEE7-2797586C4066}">
      <dgm:prSet/>
      <dgm:spPr/>
      <dgm:t>
        <a:bodyPr/>
        <a:lstStyle/>
        <a:p>
          <a:endParaRPr lang="en-US"/>
        </a:p>
      </dgm:t>
    </dgm:pt>
    <dgm:pt modelId="{BECC7F00-40C2-4A4C-AD0B-2F0DEF3D7C8C}">
      <dgm:prSet custT="1"/>
      <dgm:spPr/>
      <dgm:t>
        <a:bodyPr/>
        <a:lstStyle/>
        <a:p>
          <a:r>
            <a:rPr lang="es-ES" sz="1200" dirty="0"/>
            <a:t>Por lo tanto, la data de entrada y salida es la misma.</a:t>
          </a:r>
          <a:endParaRPr lang="en-US" sz="1200" dirty="0"/>
        </a:p>
      </dgm:t>
    </dgm:pt>
    <dgm:pt modelId="{2FC380A9-85B3-4BDF-B0F3-50D4C32FAF1B}" type="parTrans" cxnId="{A21CCDCD-882E-41C1-A2FB-38A69EB8DE5A}">
      <dgm:prSet/>
      <dgm:spPr/>
      <dgm:t>
        <a:bodyPr/>
        <a:lstStyle/>
        <a:p>
          <a:endParaRPr lang="en-US"/>
        </a:p>
      </dgm:t>
    </dgm:pt>
    <dgm:pt modelId="{DD03963E-6CD4-4AF2-B966-9BD27815703D}" type="sibTrans" cxnId="{A21CCDCD-882E-41C1-A2FB-38A69EB8DE5A}">
      <dgm:prSet/>
      <dgm:spPr/>
      <dgm:t>
        <a:bodyPr/>
        <a:lstStyle/>
        <a:p>
          <a:endParaRPr lang="en-US"/>
        </a:p>
      </dgm:t>
    </dgm:pt>
    <dgm:pt modelId="{60B53660-A52E-4B7A-97D4-61F2312973CD}">
      <dgm:prSet custT="1"/>
      <dgm:spPr/>
      <dgm:t>
        <a:bodyPr/>
        <a:lstStyle/>
        <a:p>
          <a:r>
            <a:rPr lang="es-ES" sz="1200" dirty="0"/>
            <a:t>En relación con la Exploración de Datos Avanzada:</a:t>
          </a:r>
          <a:endParaRPr lang="en-US" sz="1200" dirty="0"/>
        </a:p>
      </dgm:t>
    </dgm:pt>
    <dgm:pt modelId="{29705E30-82B0-463D-8AC9-04AEBA375D65}" type="parTrans" cxnId="{C3716D44-5B92-48D4-8F09-0909E83002B8}">
      <dgm:prSet/>
      <dgm:spPr/>
      <dgm:t>
        <a:bodyPr/>
        <a:lstStyle/>
        <a:p>
          <a:endParaRPr lang="en-US"/>
        </a:p>
      </dgm:t>
    </dgm:pt>
    <dgm:pt modelId="{02A15432-E069-42B2-980D-B9F31E421291}" type="sibTrans" cxnId="{C3716D44-5B92-48D4-8F09-0909E83002B8}">
      <dgm:prSet/>
      <dgm:spPr/>
      <dgm:t>
        <a:bodyPr/>
        <a:lstStyle/>
        <a:p>
          <a:endParaRPr lang="en-US"/>
        </a:p>
      </dgm:t>
    </dgm:pt>
    <dgm:pt modelId="{39E508B0-147A-4D69-8336-D2C0F781BB1B}">
      <dgm:prSet custT="1"/>
      <dgm:spPr/>
      <dgm:t>
        <a:bodyPr/>
        <a:lstStyle/>
        <a:p>
          <a:r>
            <a:rPr lang="es-ES" sz="1200" dirty="0"/>
            <a:t>La variable objetivo del estudio es 'Total </a:t>
          </a:r>
          <a:r>
            <a:rPr lang="es-ES" sz="1200" dirty="0" err="1"/>
            <a:t>Amount</a:t>
          </a:r>
          <a:r>
            <a:rPr lang="es-ES" sz="1200" dirty="0"/>
            <a:t>’.</a:t>
          </a:r>
          <a:endParaRPr lang="en-US" sz="1200" dirty="0"/>
        </a:p>
      </dgm:t>
    </dgm:pt>
    <dgm:pt modelId="{3B330D9D-2C56-4DB8-BA36-49151F04B3A8}" type="parTrans" cxnId="{96C6D20F-47F8-48C3-BD48-3FEAD6EE50DD}">
      <dgm:prSet/>
      <dgm:spPr/>
      <dgm:t>
        <a:bodyPr/>
        <a:lstStyle/>
        <a:p>
          <a:endParaRPr lang="en-US"/>
        </a:p>
      </dgm:t>
    </dgm:pt>
    <dgm:pt modelId="{847E292C-5FA6-444C-9747-3ED787B985A2}" type="sibTrans" cxnId="{96C6D20F-47F8-48C3-BD48-3FEAD6EE50DD}">
      <dgm:prSet/>
      <dgm:spPr/>
      <dgm:t>
        <a:bodyPr/>
        <a:lstStyle/>
        <a:p>
          <a:endParaRPr lang="en-US"/>
        </a:p>
      </dgm:t>
    </dgm:pt>
    <dgm:pt modelId="{8E9F9F26-E339-4DBC-9AE6-EC7419EAEFB2}">
      <dgm:prSet custT="1"/>
      <dgm:spPr/>
      <dgm:t>
        <a:bodyPr/>
        <a:lstStyle/>
        <a:p>
          <a:r>
            <a:rPr lang="es-ES" sz="1200" dirty="0"/>
            <a:t>La mayor cantidad de ingresos por ventas se concentran entre en el rango de 0-250.</a:t>
          </a:r>
          <a:endParaRPr lang="en-US" sz="1200" dirty="0"/>
        </a:p>
      </dgm:t>
    </dgm:pt>
    <dgm:pt modelId="{C0749769-2554-4237-9789-9B6C9DB07AF2}" type="parTrans" cxnId="{6F347A99-AF39-4312-A63F-5BE282C0F12D}">
      <dgm:prSet/>
      <dgm:spPr/>
      <dgm:t>
        <a:bodyPr/>
        <a:lstStyle/>
        <a:p>
          <a:endParaRPr lang="en-US"/>
        </a:p>
      </dgm:t>
    </dgm:pt>
    <dgm:pt modelId="{EFD360E2-29E1-4AA9-829E-88CE1C686978}" type="sibTrans" cxnId="{6F347A99-AF39-4312-A63F-5BE282C0F12D}">
      <dgm:prSet/>
      <dgm:spPr/>
      <dgm:t>
        <a:bodyPr/>
        <a:lstStyle/>
        <a:p>
          <a:endParaRPr lang="en-US"/>
        </a:p>
      </dgm:t>
    </dgm:pt>
    <dgm:pt modelId="{15B3815F-0C55-4B50-99FB-7791A59C8B74}">
      <dgm:prSet custT="1"/>
      <dgm:spPr/>
      <dgm:t>
        <a:bodyPr/>
        <a:lstStyle/>
        <a:p>
          <a:r>
            <a:rPr lang="es-ES" sz="1200" dirty="0"/>
            <a:t>Existe un sesgo de los ingresos hacia la derecha (ingresos menores).</a:t>
          </a:r>
          <a:endParaRPr lang="en-US" sz="1200" dirty="0"/>
        </a:p>
      </dgm:t>
    </dgm:pt>
    <dgm:pt modelId="{D4AA80E7-1E65-4779-AB33-15F21CABBB5B}" type="parTrans" cxnId="{F6BD669F-7151-499A-B0C6-457F7332BA01}">
      <dgm:prSet/>
      <dgm:spPr/>
      <dgm:t>
        <a:bodyPr/>
        <a:lstStyle/>
        <a:p>
          <a:endParaRPr lang="en-US"/>
        </a:p>
      </dgm:t>
    </dgm:pt>
    <dgm:pt modelId="{E04A6B46-D621-4157-9C71-6838A8BECFC5}" type="sibTrans" cxnId="{F6BD669F-7151-499A-B0C6-457F7332BA01}">
      <dgm:prSet/>
      <dgm:spPr/>
      <dgm:t>
        <a:bodyPr/>
        <a:lstStyle/>
        <a:p>
          <a:endParaRPr lang="en-US"/>
        </a:p>
      </dgm:t>
    </dgm:pt>
    <dgm:pt modelId="{648E8403-54D9-47D3-9D15-4136AC0A182B}">
      <dgm:prSet custT="1"/>
      <dgm:spPr/>
      <dgm:t>
        <a:bodyPr/>
        <a:lstStyle/>
        <a:p>
          <a:r>
            <a:rPr lang="es-ES" sz="1200"/>
            <a:t>Los tres grupos de productos 'Electronics', 'Beauty' y 'Clothing' presentan un comportamiento similar de ingresos por ventas.</a:t>
          </a:r>
          <a:endParaRPr lang="en-US" sz="1200"/>
        </a:p>
      </dgm:t>
    </dgm:pt>
    <dgm:pt modelId="{82A0B9AA-DEB3-44B1-AFA7-EFB30665F68E}" type="parTrans" cxnId="{CD4AE91E-1B46-411E-BC44-A0F1AC8D78B9}">
      <dgm:prSet/>
      <dgm:spPr/>
      <dgm:t>
        <a:bodyPr/>
        <a:lstStyle/>
        <a:p>
          <a:endParaRPr lang="en-US"/>
        </a:p>
      </dgm:t>
    </dgm:pt>
    <dgm:pt modelId="{CD98DCD2-9B69-43D4-9C97-C241881B1F14}" type="sibTrans" cxnId="{CD4AE91E-1B46-411E-BC44-A0F1AC8D78B9}">
      <dgm:prSet/>
      <dgm:spPr/>
      <dgm:t>
        <a:bodyPr/>
        <a:lstStyle/>
        <a:p>
          <a:endParaRPr lang="en-US"/>
        </a:p>
      </dgm:t>
    </dgm:pt>
    <dgm:pt modelId="{F3A60970-6276-479B-8D76-649B1E480F4E}">
      <dgm:prSet custT="1"/>
      <dgm:spPr/>
      <dgm:t>
        <a:bodyPr/>
        <a:lstStyle/>
        <a:p>
          <a:r>
            <a:rPr lang="es-ES" sz="1200" dirty="0"/>
            <a:t>La variable 'Total </a:t>
          </a:r>
          <a:r>
            <a:rPr lang="es-ES" sz="1200" dirty="0" err="1"/>
            <a:t>Amount</a:t>
          </a:r>
          <a:r>
            <a:rPr lang="es-ES" sz="1200" dirty="0"/>
            <a:t>' tiene una correlación positiva con la variable 'Price por </a:t>
          </a:r>
          <a:r>
            <a:rPr lang="es-ES" sz="1200" dirty="0" err="1"/>
            <a:t>Unit</a:t>
          </a:r>
          <a:r>
            <a:rPr lang="es-ES" sz="1200" dirty="0"/>
            <a:t>' y en menor medida con la variable '</a:t>
          </a:r>
          <a:r>
            <a:rPr lang="es-ES" sz="1200" dirty="0" err="1"/>
            <a:t>Quantity</a:t>
          </a:r>
          <a:r>
            <a:rPr lang="es-ES" sz="1200" dirty="0"/>
            <a:t>'. Con la variable 'Age' existe una correlación negativa y muy baja.</a:t>
          </a:r>
          <a:endParaRPr lang="en-US" sz="1200" dirty="0"/>
        </a:p>
      </dgm:t>
    </dgm:pt>
    <dgm:pt modelId="{D1E41185-4F53-4747-A06B-DAF18C375DC4}" type="parTrans" cxnId="{040E9CB6-BB00-4F49-ABC5-49E1DE587D60}">
      <dgm:prSet/>
      <dgm:spPr/>
      <dgm:t>
        <a:bodyPr/>
        <a:lstStyle/>
        <a:p>
          <a:endParaRPr lang="en-US"/>
        </a:p>
      </dgm:t>
    </dgm:pt>
    <dgm:pt modelId="{C006E9B8-7705-4997-8988-E7FA538C3520}" type="sibTrans" cxnId="{040E9CB6-BB00-4F49-ABC5-49E1DE587D60}">
      <dgm:prSet/>
      <dgm:spPr/>
      <dgm:t>
        <a:bodyPr/>
        <a:lstStyle/>
        <a:p>
          <a:endParaRPr lang="en-US"/>
        </a:p>
      </dgm:t>
    </dgm:pt>
    <dgm:pt modelId="{B9CFDAAC-722A-48E3-8740-DC3C63C58CB3}">
      <dgm:prSet custT="1"/>
      <dgm:spPr/>
      <dgm:t>
        <a:bodyPr/>
        <a:lstStyle/>
        <a:p>
          <a:r>
            <a:rPr lang="es-ES" sz="1200"/>
            <a:t>Para precios bajos la dispersión de valores es muy baja, a medida que el precio aumenta la dispersión con los ingresos aumenta.</a:t>
          </a:r>
          <a:endParaRPr lang="en-US" sz="1200"/>
        </a:p>
      </dgm:t>
    </dgm:pt>
    <dgm:pt modelId="{321E9ACF-DBE8-4126-A5B2-D473672A2FA2}" type="parTrans" cxnId="{2F9A0AFC-0612-4757-9BC3-BE8573EA2CB6}">
      <dgm:prSet/>
      <dgm:spPr/>
      <dgm:t>
        <a:bodyPr/>
        <a:lstStyle/>
        <a:p>
          <a:endParaRPr lang="en-US"/>
        </a:p>
      </dgm:t>
    </dgm:pt>
    <dgm:pt modelId="{7C69EDA1-5D0E-4D28-8E02-63186AE0F300}" type="sibTrans" cxnId="{2F9A0AFC-0612-4757-9BC3-BE8573EA2CB6}">
      <dgm:prSet/>
      <dgm:spPr/>
      <dgm:t>
        <a:bodyPr/>
        <a:lstStyle/>
        <a:p>
          <a:endParaRPr lang="en-US"/>
        </a:p>
      </dgm:t>
    </dgm:pt>
    <dgm:pt modelId="{F75413E4-B7AE-47C7-9E4F-3BDF6E95F09F}">
      <dgm:prSet custT="1"/>
      <dgm:spPr/>
      <dgm:t>
        <a:bodyPr/>
        <a:lstStyle/>
        <a:p>
          <a:r>
            <a:rPr lang="es-ES" sz="1200" dirty="0"/>
            <a:t>La indicado en el punto anterior afecta directamente a la dispersión entre la variable cantidad e ingresos. Donde para ingresos bajos la dispersión es baja, pero para ingresos altos la dispersión es alta.</a:t>
          </a:r>
          <a:endParaRPr lang="en-US" sz="1200" dirty="0"/>
        </a:p>
      </dgm:t>
    </dgm:pt>
    <dgm:pt modelId="{6C3B810A-6425-4CAB-81F2-F1B80D2FA5FF}" type="parTrans" cxnId="{DABB1434-D1D6-4A0B-9AEA-BAD29FB56404}">
      <dgm:prSet/>
      <dgm:spPr/>
      <dgm:t>
        <a:bodyPr/>
        <a:lstStyle/>
        <a:p>
          <a:endParaRPr lang="en-US"/>
        </a:p>
      </dgm:t>
    </dgm:pt>
    <dgm:pt modelId="{CB91A115-28A5-4DCC-84A7-DC229B50DFF9}" type="sibTrans" cxnId="{DABB1434-D1D6-4A0B-9AEA-BAD29FB56404}">
      <dgm:prSet/>
      <dgm:spPr/>
      <dgm:t>
        <a:bodyPr/>
        <a:lstStyle/>
        <a:p>
          <a:endParaRPr lang="en-US"/>
        </a:p>
      </dgm:t>
    </dgm:pt>
    <dgm:pt modelId="{F170BF5E-5B40-4863-94B8-1FE6DE3C39FC}">
      <dgm:prSet custT="1"/>
      <dgm:spPr/>
      <dgm:t>
        <a:bodyPr/>
        <a:lstStyle/>
        <a:p>
          <a:r>
            <a:rPr lang="es-ES" sz="1200"/>
            <a:t>Conclusión:</a:t>
          </a:r>
          <a:endParaRPr lang="en-US" sz="1200"/>
        </a:p>
      </dgm:t>
    </dgm:pt>
    <dgm:pt modelId="{37D0C79B-72F8-4EF8-9334-38613BEFB424}" type="parTrans" cxnId="{9CD55C6E-2A03-4FE5-B520-4291CFB38A6B}">
      <dgm:prSet/>
      <dgm:spPr/>
      <dgm:t>
        <a:bodyPr/>
        <a:lstStyle/>
        <a:p>
          <a:endParaRPr lang="en-US"/>
        </a:p>
      </dgm:t>
    </dgm:pt>
    <dgm:pt modelId="{17425129-CB4D-4BD8-BF25-85F5578B15F8}" type="sibTrans" cxnId="{9CD55C6E-2A03-4FE5-B520-4291CFB38A6B}">
      <dgm:prSet/>
      <dgm:spPr/>
      <dgm:t>
        <a:bodyPr/>
        <a:lstStyle/>
        <a:p>
          <a:endParaRPr lang="en-US"/>
        </a:p>
      </dgm:t>
    </dgm:pt>
    <dgm:pt modelId="{58AA16CD-2F60-4E71-9485-08A5D0337F29}">
      <dgm:prSet custT="1"/>
      <dgm:spPr/>
      <dgm:t>
        <a:bodyPr/>
        <a:lstStyle/>
        <a:p>
          <a:r>
            <a:rPr lang="es-ES" sz="1200" dirty="0"/>
            <a:t>La variable objetivo son los ingresos totales (Total </a:t>
          </a:r>
          <a:r>
            <a:rPr lang="es-ES" sz="1200" dirty="0" err="1"/>
            <a:t>Amount</a:t>
          </a:r>
          <a:r>
            <a:rPr lang="es-ES" sz="1200" dirty="0"/>
            <a:t>) la cual tiene una fuerte correlación positiva con las variables cantidad (</a:t>
          </a:r>
          <a:r>
            <a:rPr lang="es-ES" sz="1200" dirty="0" err="1"/>
            <a:t>Quantity</a:t>
          </a:r>
          <a:r>
            <a:rPr lang="es-ES" sz="1200" dirty="0"/>
            <a:t>) y Precio unitario (Price per </a:t>
          </a:r>
          <a:r>
            <a:rPr lang="es-ES" sz="1200" dirty="0" err="1"/>
            <a:t>Unit</a:t>
          </a:r>
          <a:r>
            <a:rPr lang="es-ES" sz="1200" dirty="0"/>
            <a:t>).</a:t>
          </a:r>
          <a:endParaRPr lang="en-US" sz="1200" dirty="0"/>
        </a:p>
      </dgm:t>
    </dgm:pt>
    <dgm:pt modelId="{E3B38EFD-AE26-46A0-BE16-518EB3D158D3}" type="parTrans" cxnId="{211F1A1A-478A-48A2-9CAB-4F2ABBEB0D7B}">
      <dgm:prSet/>
      <dgm:spPr/>
      <dgm:t>
        <a:bodyPr/>
        <a:lstStyle/>
        <a:p>
          <a:endParaRPr lang="en-US"/>
        </a:p>
      </dgm:t>
    </dgm:pt>
    <dgm:pt modelId="{8CE508E3-22F4-43ED-949B-4FA922A9DE37}" type="sibTrans" cxnId="{211F1A1A-478A-48A2-9CAB-4F2ABBEB0D7B}">
      <dgm:prSet/>
      <dgm:spPr/>
      <dgm:t>
        <a:bodyPr/>
        <a:lstStyle/>
        <a:p>
          <a:endParaRPr lang="en-US"/>
        </a:p>
      </dgm:t>
    </dgm:pt>
    <dgm:pt modelId="{3183F070-49BB-4EB4-8F40-966BAC79B817}">
      <dgm:prSet custT="1"/>
      <dgm:spPr/>
      <dgm:t>
        <a:bodyPr/>
        <a:lstStyle/>
        <a:p>
          <a:r>
            <a:rPr lang="es-ES" sz="1200" dirty="0"/>
            <a:t>Sin embargo, las variables 'Age', 'Sexo', '</a:t>
          </a:r>
          <a:r>
            <a:rPr lang="es-ES" sz="1200" dirty="0" err="1"/>
            <a:t>Category</a:t>
          </a:r>
          <a:r>
            <a:rPr lang="es-ES" sz="1200" dirty="0"/>
            <a:t>' deben ser parte del estudio de ML, ya que no se pude descartar en esta etapa su impacto.</a:t>
          </a:r>
          <a:endParaRPr lang="en-US" sz="1200" dirty="0"/>
        </a:p>
      </dgm:t>
    </dgm:pt>
    <dgm:pt modelId="{60D586C3-781D-4D3A-885A-055740541A25}" type="parTrans" cxnId="{DE904578-DD14-4D58-9749-8A0316F54E98}">
      <dgm:prSet/>
      <dgm:spPr/>
      <dgm:t>
        <a:bodyPr/>
        <a:lstStyle/>
        <a:p>
          <a:endParaRPr lang="en-US"/>
        </a:p>
      </dgm:t>
    </dgm:pt>
    <dgm:pt modelId="{79B618A1-55A5-4C24-98A8-40574F3E1B4F}" type="sibTrans" cxnId="{DE904578-DD14-4D58-9749-8A0316F54E98}">
      <dgm:prSet/>
      <dgm:spPr/>
      <dgm:t>
        <a:bodyPr/>
        <a:lstStyle/>
        <a:p>
          <a:endParaRPr lang="en-US"/>
        </a:p>
      </dgm:t>
    </dgm:pt>
    <dgm:pt modelId="{B8726EF0-9DB1-487A-A096-F75E5274E5E2}" type="pres">
      <dgm:prSet presAssocID="{9F3415AD-3C05-4603-89C3-F091217F4B36}" presName="Name0" presStyleCnt="0">
        <dgm:presLayoutVars>
          <dgm:dir/>
          <dgm:animLvl val="lvl"/>
          <dgm:resizeHandles val="exact"/>
        </dgm:presLayoutVars>
      </dgm:prSet>
      <dgm:spPr/>
    </dgm:pt>
    <dgm:pt modelId="{06389687-61C6-4E15-87EB-5E92E3A9EC7B}" type="pres">
      <dgm:prSet presAssocID="{F4CED763-6EFB-4C95-8DE2-8E0809470CB1}" presName="composite" presStyleCnt="0"/>
      <dgm:spPr/>
    </dgm:pt>
    <dgm:pt modelId="{253F5432-E623-4860-9C5D-C6F0899F0F67}" type="pres">
      <dgm:prSet presAssocID="{F4CED763-6EFB-4C95-8DE2-8E0809470CB1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90311BED-85C5-4108-B86D-12B3A889287A}" type="pres">
      <dgm:prSet presAssocID="{F4CED763-6EFB-4C95-8DE2-8E0809470CB1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E45D407-E1E0-4BFE-BA86-4E93B2BB47B3}" type="presOf" srcId="{DBBF0908-0482-44E0-BB94-22C4B147E59B}" destId="{90311BED-85C5-4108-B86D-12B3A889287A}" srcOrd="0" destOrd="2" presId="urn:microsoft.com/office/officeart/2005/8/layout/hList1"/>
    <dgm:cxn modelId="{96C6D20F-47F8-48C3-BD48-3FEAD6EE50DD}" srcId="{60B53660-A52E-4B7A-97D4-61F2312973CD}" destId="{39E508B0-147A-4D69-8336-D2C0F781BB1B}" srcOrd="0" destOrd="0" parTransId="{3B330D9D-2C56-4DB8-BA36-49151F04B3A8}" sibTransId="{847E292C-5FA6-444C-9747-3ED787B985A2}"/>
    <dgm:cxn modelId="{211F1A1A-478A-48A2-9CAB-4F2ABBEB0D7B}" srcId="{F170BF5E-5B40-4863-94B8-1FE6DE3C39FC}" destId="{58AA16CD-2F60-4E71-9485-08A5D0337F29}" srcOrd="0" destOrd="0" parTransId="{E3B38EFD-AE26-46A0-BE16-518EB3D158D3}" sibTransId="{8CE508E3-22F4-43ED-949B-4FA922A9DE37}"/>
    <dgm:cxn modelId="{CD4AE91E-1B46-411E-BC44-A0F1AC8D78B9}" srcId="{60B53660-A52E-4B7A-97D4-61F2312973CD}" destId="{648E8403-54D9-47D3-9D15-4136AC0A182B}" srcOrd="3" destOrd="0" parTransId="{82A0B9AA-DEB3-44B1-AFA7-EFB30665F68E}" sibTransId="{CD98DCD2-9B69-43D4-9C97-C241881B1F14}"/>
    <dgm:cxn modelId="{85898F28-EA48-4BA5-9981-C8C7423C0B9A}" type="presOf" srcId="{39E508B0-147A-4D69-8336-D2C0F781BB1B}" destId="{90311BED-85C5-4108-B86D-12B3A889287A}" srcOrd="0" destOrd="5" presId="urn:microsoft.com/office/officeart/2005/8/layout/hList1"/>
    <dgm:cxn modelId="{8BCD1C2B-A4D0-4AA0-AE84-21D57EEF96EE}" srcId="{F4CED763-6EFB-4C95-8DE2-8E0809470CB1}" destId="{3FD55711-6EB1-4C16-A24F-6FB01557A729}" srcOrd="0" destOrd="0" parTransId="{94C9A157-D88B-4140-9B00-DEF0960356CB}" sibTransId="{C76F35E3-9A9D-425F-A269-05F5243E1262}"/>
    <dgm:cxn modelId="{DABB1434-D1D6-4A0B-9AEA-BAD29FB56404}" srcId="{60B53660-A52E-4B7A-97D4-61F2312973CD}" destId="{F75413E4-B7AE-47C7-9E4F-3BDF6E95F09F}" srcOrd="6" destOrd="0" parTransId="{6C3B810A-6425-4CAB-81F2-F1B80D2FA5FF}" sibTransId="{CB91A115-28A5-4DCC-84A7-DC229B50DFF9}"/>
    <dgm:cxn modelId="{82FE0563-3798-4902-943F-3B495930C388}" type="presOf" srcId="{F75413E4-B7AE-47C7-9E4F-3BDF6E95F09F}" destId="{90311BED-85C5-4108-B86D-12B3A889287A}" srcOrd="0" destOrd="11" presId="urn:microsoft.com/office/officeart/2005/8/layout/hList1"/>
    <dgm:cxn modelId="{C3716D44-5B92-48D4-8F09-0909E83002B8}" srcId="{F4CED763-6EFB-4C95-8DE2-8E0809470CB1}" destId="{60B53660-A52E-4B7A-97D4-61F2312973CD}" srcOrd="1" destOrd="0" parTransId="{29705E30-82B0-463D-8AC9-04AEBA375D65}" sibTransId="{02A15432-E069-42B2-980D-B9F31E421291}"/>
    <dgm:cxn modelId="{7701CE65-B3C0-4086-BBA8-3AB4006BFB00}" type="presOf" srcId="{8E9F9F26-E339-4DBC-9AE6-EC7419EAEFB2}" destId="{90311BED-85C5-4108-B86D-12B3A889287A}" srcOrd="0" destOrd="6" presId="urn:microsoft.com/office/officeart/2005/8/layout/hList1"/>
    <dgm:cxn modelId="{9CD55C6E-2A03-4FE5-B520-4291CFB38A6B}" srcId="{F4CED763-6EFB-4C95-8DE2-8E0809470CB1}" destId="{F170BF5E-5B40-4863-94B8-1FE6DE3C39FC}" srcOrd="2" destOrd="0" parTransId="{37D0C79B-72F8-4EF8-9334-38613BEFB424}" sibTransId="{17425129-CB4D-4BD8-BF25-85F5578B15F8}"/>
    <dgm:cxn modelId="{75A20274-9A74-4001-B9BB-0067530A97C1}" srcId="{3FD55711-6EB1-4C16-A24F-6FB01557A729}" destId="{16394539-0034-4393-A474-940CBC82F356}" srcOrd="0" destOrd="0" parTransId="{8824BB7D-4197-43AB-AD8F-AA03C756184C}" sibTransId="{8BC1419A-1F42-4B37-9DAB-BAC350EDC1D6}"/>
    <dgm:cxn modelId="{2C538874-5F15-496F-8FFA-2219A3D20AD4}" type="presOf" srcId="{BECC7F00-40C2-4A4C-AD0B-2F0DEF3D7C8C}" destId="{90311BED-85C5-4108-B86D-12B3A889287A}" srcOrd="0" destOrd="3" presId="urn:microsoft.com/office/officeart/2005/8/layout/hList1"/>
    <dgm:cxn modelId="{DE904578-DD14-4D58-9749-8A0316F54E98}" srcId="{F170BF5E-5B40-4863-94B8-1FE6DE3C39FC}" destId="{3183F070-49BB-4EB4-8F40-966BAC79B817}" srcOrd="1" destOrd="0" parTransId="{60D586C3-781D-4D3A-885A-055740541A25}" sibTransId="{79B618A1-55A5-4C24-98A8-40574F3E1B4F}"/>
    <dgm:cxn modelId="{9A1DA381-0B69-4985-A62D-E4DA43287BFC}" type="presOf" srcId="{58AA16CD-2F60-4E71-9485-08A5D0337F29}" destId="{90311BED-85C5-4108-B86D-12B3A889287A}" srcOrd="0" destOrd="13" presId="urn:microsoft.com/office/officeart/2005/8/layout/hList1"/>
    <dgm:cxn modelId="{52A77186-BD3C-48DE-990D-F7C9583F2874}" type="presOf" srcId="{F170BF5E-5B40-4863-94B8-1FE6DE3C39FC}" destId="{90311BED-85C5-4108-B86D-12B3A889287A}" srcOrd="0" destOrd="12" presId="urn:microsoft.com/office/officeart/2005/8/layout/hList1"/>
    <dgm:cxn modelId="{DE5CAD8C-D3F0-44FD-90D9-7AA7B2F83B52}" type="presOf" srcId="{9F3415AD-3C05-4603-89C3-F091217F4B36}" destId="{B8726EF0-9DB1-487A-A096-F75E5274E5E2}" srcOrd="0" destOrd="0" presId="urn:microsoft.com/office/officeart/2005/8/layout/hList1"/>
    <dgm:cxn modelId="{2F509E8E-0ADB-498E-BB24-A756A11E00B9}" type="presOf" srcId="{60B53660-A52E-4B7A-97D4-61F2312973CD}" destId="{90311BED-85C5-4108-B86D-12B3A889287A}" srcOrd="0" destOrd="4" presId="urn:microsoft.com/office/officeart/2005/8/layout/hList1"/>
    <dgm:cxn modelId="{847F6990-0BCC-4748-AEE7-2797586C4066}" srcId="{3FD55711-6EB1-4C16-A24F-6FB01557A729}" destId="{DBBF0908-0482-44E0-BB94-22C4B147E59B}" srcOrd="1" destOrd="0" parTransId="{CED2D01E-D0E8-48B8-A3DF-BD9DCFF859D3}" sibTransId="{E7DF8C0E-07BB-48D3-AFF6-23457EA69C16}"/>
    <dgm:cxn modelId="{6F347A99-AF39-4312-A63F-5BE282C0F12D}" srcId="{60B53660-A52E-4B7A-97D4-61F2312973CD}" destId="{8E9F9F26-E339-4DBC-9AE6-EC7419EAEFB2}" srcOrd="1" destOrd="0" parTransId="{C0749769-2554-4237-9789-9B6C9DB07AF2}" sibTransId="{EFD360E2-29E1-4AA9-829E-88CE1C686978}"/>
    <dgm:cxn modelId="{F6BD669F-7151-499A-B0C6-457F7332BA01}" srcId="{60B53660-A52E-4B7A-97D4-61F2312973CD}" destId="{15B3815F-0C55-4B50-99FB-7791A59C8B74}" srcOrd="2" destOrd="0" parTransId="{D4AA80E7-1E65-4779-AB33-15F21CABBB5B}" sibTransId="{E04A6B46-D621-4157-9C71-6838A8BECFC5}"/>
    <dgm:cxn modelId="{9356D9AB-2B09-4B49-B6DB-11DD67A82B8D}" type="presOf" srcId="{15B3815F-0C55-4B50-99FB-7791A59C8B74}" destId="{90311BED-85C5-4108-B86D-12B3A889287A}" srcOrd="0" destOrd="7" presId="urn:microsoft.com/office/officeart/2005/8/layout/hList1"/>
    <dgm:cxn modelId="{0655D4AC-1CE7-42C6-BF4B-7510CD245C98}" type="presOf" srcId="{3183F070-49BB-4EB4-8F40-966BAC79B817}" destId="{90311BED-85C5-4108-B86D-12B3A889287A}" srcOrd="0" destOrd="14" presId="urn:microsoft.com/office/officeart/2005/8/layout/hList1"/>
    <dgm:cxn modelId="{040E9CB6-BB00-4F49-ABC5-49E1DE587D60}" srcId="{60B53660-A52E-4B7A-97D4-61F2312973CD}" destId="{F3A60970-6276-479B-8D76-649B1E480F4E}" srcOrd="4" destOrd="0" parTransId="{D1E41185-4F53-4747-A06B-DAF18C375DC4}" sibTransId="{C006E9B8-7705-4997-8988-E7FA538C3520}"/>
    <dgm:cxn modelId="{5FA499B7-238A-43FB-9A2B-15EA9E4F704C}" type="presOf" srcId="{B9CFDAAC-722A-48E3-8740-DC3C63C58CB3}" destId="{90311BED-85C5-4108-B86D-12B3A889287A}" srcOrd="0" destOrd="10" presId="urn:microsoft.com/office/officeart/2005/8/layout/hList1"/>
    <dgm:cxn modelId="{B78A08BA-043D-49BD-9EA4-20BF697A49DD}" type="presOf" srcId="{648E8403-54D9-47D3-9D15-4136AC0A182B}" destId="{90311BED-85C5-4108-B86D-12B3A889287A}" srcOrd="0" destOrd="8" presId="urn:microsoft.com/office/officeart/2005/8/layout/hList1"/>
    <dgm:cxn modelId="{34AEA3BA-45AD-47C9-B0EE-ECCC98E3E673}" srcId="{9F3415AD-3C05-4603-89C3-F091217F4B36}" destId="{F4CED763-6EFB-4C95-8DE2-8E0809470CB1}" srcOrd="0" destOrd="0" parTransId="{5C0148A5-B72D-4133-A5DB-F61C6289549D}" sibTransId="{A6F824AE-5FA6-44FD-8803-4BFB6B8254FA}"/>
    <dgm:cxn modelId="{1EB85CBE-E565-4620-A479-361B769D30DF}" type="presOf" srcId="{16394539-0034-4393-A474-940CBC82F356}" destId="{90311BED-85C5-4108-B86D-12B3A889287A}" srcOrd="0" destOrd="1" presId="urn:microsoft.com/office/officeart/2005/8/layout/hList1"/>
    <dgm:cxn modelId="{B7FB0AC7-149D-4F07-AF1A-7E452CD2BE2C}" type="presOf" srcId="{3FD55711-6EB1-4C16-A24F-6FB01557A729}" destId="{90311BED-85C5-4108-B86D-12B3A889287A}" srcOrd="0" destOrd="0" presId="urn:microsoft.com/office/officeart/2005/8/layout/hList1"/>
    <dgm:cxn modelId="{08EB14CC-EA6D-4B5E-90D5-F4A8B8EA0F8D}" type="presOf" srcId="{F4CED763-6EFB-4C95-8DE2-8E0809470CB1}" destId="{253F5432-E623-4860-9C5D-C6F0899F0F67}" srcOrd="0" destOrd="0" presId="urn:microsoft.com/office/officeart/2005/8/layout/hList1"/>
    <dgm:cxn modelId="{51C48CCD-8379-4651-BBF1-DB76FDC6DEF9}" type="presOf" srcId="{F3A60970-6276-479B-8D76-649B1E480F4E}" destId="{90311BED-85C5-4108-B86D-12B3A889287A}" srcOrd="0" destOrd="9" presId="urn:microsoft.com/office/officeart/2005/8/layout/hList1"/>
    <dgm:cxn modelId="{A21CCDCD-882E-41C1-A2FB-38A69EB8DE5A}" srcId="{3FD55711-6EB1-4C16-A24F-6FB01557A729}" destId="{BECC7F00-40C2-4A4C-AD0B-2F0DEF3D7C8C}" srcOrd="2" destOrd="0" parTransId="{2FC380A9-85B3-4BDF-B0F3-50D4C32FAF1B}" sibTransId="{DD03963E-6CD4-4AF2-B966-9BD27815703D}"/>
    <dgm:cxn modelId="{2F9A0AFC-0612-4757-9BC3-BE8573EA2CB6}" srcId="{60B53660-A52E-4B7A-97D4-61F2312973CD}" destId="{B9CFDAAC-722A-48E3-8740-DC3C63C58CB3}" srcOrd="5" destOrd="0" parTransId="{321E9ACF-DBE8-4126-A5B2-D473672A2FA2}" sibTransId="{7C69EDA1-5D0E-4D28-8E02-63186AE0F300}"/>
    <dgm:cxn modelId="{0E61D59E-091F-4B13-B366-B80EF096C912}" type="presParOf" srcId="{B8726EF0-9DB1-487A-A096-F75E5274E5E2}" destId="{06389687-61C6-4E15-87EB-5E92E3A9EC7B}" srcOrd="0" destOrd="0" presId="urn:microsoft.com/office/officeart/2005/8/layout/hList1"/>
    <dgm:cxn modelId="{C31E6630-CDF4-478D-93A9-2D93222C46EA}" type="presParOf" srcId="{06389687-61C6-4E15-87EB-5E92E3A9EC7B}" destId="{253F5432-E623-4860-9C5D-C6F0899F0F67}" srcOrd="0" destOrd="0" presId="urn:microsoft.com/office/officeart/2005/8/layout/hList1"/>
    <dgm:cxn modelId="{053F3A00-7538-4524-92C8-887F2A3A3CD7}" type="presParOf" srcId="{06389687-61C6-4E15-87EB-5E92E3A9EC7B}" destId="{90311BED-85C5-4108-B86D-12B3A889287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92C65-D060-4FF4-A007-5486E578ED98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52EEB8-90E6-427B-AEE2-F6FF512191D4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90016-D739-418A-8199-860A1A6EF7F7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400" kern="1200" noProof="0" dirty="0"/>
            <a:t>Introducción y Objetivos.</a:t>
          </a:r>
        </a:p>
      </dsp:txBody>
      <dsp:txXfrm>
        <a:off x="333914" y="2456402"/>
        <a:ext cx="1800000" cy="720000"/>
      </dsp:txXfrm>
    </dsp:sp>
    <dsp:sp modelId="{88D1A4CB-ADB6-462A-9694-EA6195ADA45B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09554-76F0-4153-A577-0214F199C9EB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80418-EA07-4358-BF02-AB79F29EE902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400" kern="1200" noProof="0" dirty="0"/>
            <a:t>Descripción del conjunto de datos.</a:t>
          </a:r>
        </a:p>
      </dsp:txBody>
      <dsp:txXfrm>
        <a:off x="2448914" y="2456402"/>
        <a:ext cx="1800000" cy="720000"/>
      </dsp:txXfrm>
    </dsp:sp>
    <dsp:sp modelId="{38A0454F-64E7-4F65-B241-13013CBDD1B1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606AC9-E436-4FD0-B511-61E61102A309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7A76A-8AD0-43C4-B830-AD7DB8E99572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400" kern="1200" noProof="0" dirty="0"/>
            <a:t>Principales análisis y hallazgos.</a:t>
          </a:r>
        </a:p>
      </dsp:txBody>
      <dsp:txXfrm>
        <a:off x="4563914" y="2456402"/>
        <a:ext cx="1800000" cy="720000"/>
      </dsp:txXfrm>
    </dsp:sp>
    <dsp:sp modelId="{4C04D732-D84E-4C54-B825-E8B67217FEDD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CFAE8-90AE-44FE-80A2-64B837D74EB9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21140-6DE8-4E8D-B54A-5AE391F44A7F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400" kern="1200" noProof="0" dirty="0"/>
            <a:t>Visualizaciones clave con explicación.</a:t>
          </a:r>
        </a:p>
      </dsp:txBody>
      <dsp:txXfrm>
        <a:off x="6678914" y="2456402"/>
        <a:ext cx="1800000" cy="720000"/>
      </dsp:txXfrm>
    </dsp:sp>
    <dsp:sp modelId="{E7751398-CEF9-4466-A6F1-ED4AE18395E5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D9842-1A7B-4401-BDA4-9EB4F3FCE92A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3A13D-99E3-4F18-97FE-71EFAA7B43A7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L" sz="1400" kern="1200" noProof="0" dirty="0"/>
            <a:t>Conclusiones y recomendaciones.</a:t>
          </a:r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40154E-8ABD-4C24-977A-833927EBF1CD}">
      <dsp:nvSpPr>
        <dsp:cNvPr id="0" name=""/>
        <dsp:cNvSpPr/>
      </dsp:nvSpPr>
      <dsp:spPr>
        <a:xfrm>
          <a:off x="0" y="52222"/>
          <a:ext cx="9688296" cy="13050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67074-B7DF-467D-BB71-2AF5E0BE1080}">
      <dsp:nvSpPr>
        <dsp:cNvPr id="0" name=""/>
        <dsp:cNvSpPr/>
      </dsp:nvSpPr>
      <dsp:spPr>
        <a:xfrm>
          <a:off x="394770" y="345853"/>
          <a:ext cx="717764" cy="71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4AD0B-7402-4125-B2BF-8BE1D0EE4F69}">
      <dsp:nvSpPr>
        <dsp:cNvPr id="0" name=""/>
        <dsp:cNvSpPr/>
      </dsp:nvSpPr>
      <dsp:spPr>
        <a:xfrm>
          <a:off x="1507306" y="52222"/>
          <a:ext cx="8179516" cy="130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15" tIns="138115" rIns="138115" bIns="13811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800" kern="1200" noProof="0" dirty="0"/>
            <a:t>Este proyecto consiste en estudiar y desarrollar un análisis integral de un conjunto de datos de ventas de una tienda de </a:t>
          </a:r>
          <a:r>
            <a:rPr lang="es-CL" sz="1800" i="1" kern="1200" noProof="0" dirty="0" err="1"/>
            <a:t>retail</a:t>
          </a:r>
          <a:r>
            <a:rPr lang="es-CL" sz="1800" kern="1200" noProof="0" dirty="0"/>
            <a:t>.</a:t>
          </a:r>
        </a:p>
      </dsp:txBody>
      <dsp:txXfrm>
        <a:off x="1507306" y="52222"/>
        <a:ext cx="8179516" cy="1305027"/>
      </dsp:txXfrm>
    </dsp:sp>
    <dsp:sp modelId="{1D8C7A94-53BA-405E-9AC1-6EB269F083A2}">
      <dsp:nvSpPr>
        <dsp:cNvPr id="0" name=""/>
        <dsp:cNvSpPr/>
      </dsp:nvSpPr>
      <dsp:spPr>
        <a:xfrm>
          <a:off x="0" y="1663839"/>
          <a:ext cx="9688296" cy="262286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B3BC7-86A5-41DC-9480-0F3434384C8D}">
      <dsp:nvSpPr>
        <dsp:cNvPr id="0" name=""/>
        <dsp:cNvSpPr/>
      </dsp:nvSpPr>
      <dsp:spPr>
        <a:xfrm>
          <a:off x="394770" y="2636058"/>
          <a:ext cx="717764" cy="71776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74749E-4D40-4542-92CE-F885476820E5}">
      <dsp:nvSpPr>
        <dsp:cNvPr id="0" name=""/>
        <dsp:cNvSpPr/>
      </dsp:nvSpPr>
      <dsp:spPr>
        <a:xfrm>
          <a:off x="1507306" y="2342427"/>
          <a:ext cx="4359733" cy="130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15" tIns="138115" rIns="138115" bIns="1381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b="1" kern="1200" noProof="0" dirty="0"/>
            <a:t>Los objetivos son:</a:t>
          </a:r>
        </a:p>
      </dsp:txBody>
      <dsp:txXfrm>
        <a:off x="1507306" y="2342427"/>
        <a:ext cx="4359733" cy="1305027"/>
      </dsp:txXfrm>
    </dsp:sp>
    <dsp:sp modelId="{7B35F881-729B-479C-8DD2-AC078995B9E0}">
      <dsp:nvSpPr>
        <dsp:cNvPr id="0" name=""/>
        <dsp:cNvSpPr/>
      </dsp:nvSpPr>
      <dsp:spPr>
        <a:xfrm>
          <a:off x="5867039" y="1683506"/>
          <a:ext cx="3819783" cy="2622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15" tIns="138115" rIns="138115" bIns="13811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Describir y analizar el conjunto de datos.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Informar los principales hallazgos de la data.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noProof="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Concluir y recomendar acerca de análisis y hallazgos de la data. </a:t>
          </a:r>
        </a:p>
      </dsp:txBody>
      <dsp:txXfrm>
        <a:off x="5867039" y="1683506"/>
        <a:ext cx="3819783" cy="26228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39E12-BD9C-4263-ABFA-0AEA84C352E7}">
      <dsp:nvSpPr>
        <dsp:cNvPr id="0" name=""/>
        <dsp:cNvSpPr/>
      </dsp:nvSpPr>
      <dsp:spPr>
        <a:xfrm>
          <a:off x="0" y="421"/>
          <a:ext cx="9688296" cy="9867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861918-2A7C-41A3-B917-8C30818DD43C}">
      <dsp:nvSpPr>
        <dsp:cNvPr id="0" name=""/>
        <dsp:cNvSpPr/>
      </dsp:nvSpPr>
      <dsp:spPr>
        <a:xfrm>
          <a:off x="298482" y="222433"/>
          <a:ext cx="542695" cy="5426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5F234-9745-4306-B235-CB2E32DF8E17}">
      <dsp:nvSpPr>
        <dsp:cNvPr id="0" name=""/>
        <dsp:cNvSpPr/>
      </dsp:nvSpPr>
      <dsp:spPr>
        <a:xfrm>
          <a:off x="1139659" y="421"/>
          <a:ext cx="8548636" cy="98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28" tIns="104428" rIns="104428" bIns="1044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noProof="0" dirty="0"/>
            <a:t>Este conjunto de datos es una instantánea de un panorama minorista ficticio, capturando atributos esenciales que impulsan las operaciones minoristas y las interacciones con los clientes.</a:t>
          </a:r>
        </a:p>
      </dsp:txBody>
      <dsp:txXfrm>
        <a:off x="1139659" y="421"/>
        <a:ext cx="8548636" cy="986718"/>
      </dsp:txXfrm>
    </dsp:sp>
    <dsp:sp modelId="{03D34302-CC72-4A80-959A-C2620FAD2D71}">
      <dsp:nvSpPr>
        <dsp:cNvPr id="0" name=""/>
        <dsp:cNvSpPr/>
      </dsp:nvSpPr>
      <dsp:spPr>
        <a:xfrm>
          <a:off x="0" y="1233819"/>
          <a:ext cx="9688296" cy="9867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7B46F-5F37-4EDB-8825-AF9ADDCEA131}">
      <dsp:nvSpPr>
        <dsp:cNvPr id="0" name=""/>
        <dsp:cNvSpPr/>
      </dsp:nvSpPr>
      <dsp:spPr>
        <a:xfrm>
          <a:off x="298482" y="1455831"/>
          <a:ext cx="542695" cy="5426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7B177-03C5-47E2-B717-0741AD203F32}">
      <dsp:nvSpPr>
        <dsp:cNvPr id="0" name=""/>
        <dsp:cNvSpPr/>
      </dsp:nvSpPr>
      <dsp:spPr>
        <a:xfrm>
          <a:off x="1139659" y="1233819"/>
          <a:ext cx="8548636" cy="98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28" tIns="104428" rIns="104428" bIns="1044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noProof="0" dirty="0"/>
            <a:t>Incluye detalles clave como ID de transacción, fecha, ID de cliente, género, edad, categoría de producto, cantidad, precio por unidad y cantidad total.</a:t>
          </a:r>
        </a:p>
      </dsp:txBody>
      <dsp:txXfrm>
        <a:off x="1139659" y="1233819"/>
        <a:ext cx="8548636" cy="986718"/>
      </dsp:txXfrm>
    </dsp:sp>
    <dsp:sp modelId="{2F9F909E-6B9C-4D16-87CE-9095F7EFBBA6}">
      <dsp:nvSpPr>
        <dsp:cNvPr id="0" name=""/>
        <dsp:cNvSpPr/>
      </dsp:nvSpPr>
      <dsp:spPr>
        <a:xfrm>
          <a:off x="0" y="2467217"/>
          <a:ext cx="9688296" cy="98671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1FAAA7-C905-4DB5-A1B0-60FB766A7555}">
      <dsp:nvSpPr>
        <dsp:cNvPr id="0" name=""/>
        <dsp:cNvSpPr/>
      </dsp:nvSpPr>
      <dsp:spPr>
        <a:xfrm>
          <a:off x="298482" y="2689229"/>
          <a:ext cx="542695" cy="5426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8C276-B4CD-4501-9A30-C1B62826004D}">
      <dsp:nvSpPr>
        <dsp:cNvPr id="0" name=""/>
        <dsp:cNvSpPr/>
      </dsp:nvSpPr>
      <dsp:spPr>
        <a:xfrm>
          <a:off x="1139659" y="2467217"/>
          <a:ext cx="8548636" cy="98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428" tIns="104428" rIns="104428" bIns="10442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noProof="0" dirty="0"/>
            <a:t>Estas características permiten una exploración multifacética de las tendencias de ventas, influencias demográficas y comportamientos de compra.</a:t>
          </a:r>
        </a:p>
      </dsp:txBody>
      <dsp:txXfrm>
        <a:off x="1139659" y="2467217"/>
        <a:ext cx="8548636" cy="9867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F5432-E623-4860-9C5D-C6F0899F0F67}">
      <dsp:nvSpPr>
        <dsp:cNvPr id="0" name=""/>
        <dsp:cNvSpPr/>
      </dsp:nvSpPr>
      <dsp:spPr>
        <a:xfrm>
          <a:off x="0" y="88299"/>
          <a:ext cx="10515600" cy="5184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De acuerdo con el análisis de la data, las principales conclusiones o comentarios son los siguientes:</a:t>
          </a:r>
          <a:endParaRPr lang="en-US" sz="1800" kern="1200"/>
        </a:p>
      </dsp:txBody>
      <dsp:txXfrm>
        <a:off x="0" y="88299"/>
        <a:ext cx="10515600" cy="518400"/>
      </dsp:txXfrm>
    </dsp:sp>
    <dsp:sp modelId="{90311BED-85C5-4108-B86D-12B3A889287A}">
      <dsp:nvSpPr>
        <dsp:cNvPr id="0" name=""/>
        <dsp:cNvSpPr/>
      </dsp:nvSpPr>
      <dsp:spPr>
        <a:xfrm>
          <a:off x="0" y="606699"/>
          <a:ext cx="10515600" cy="365633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En relación con la limpieza: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La data recopilada no presenta errores de ingreso o corrupción de datos, no se eliminaron datos.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No existen datos duplicado y </a:t>
          </a:r>
          <a:r>
            <a:rPr lang="es-ES" sz="1200" kern="1200" dirty="0" err="1"/>
            <a:t>outlier</a:t>
          </a:r>
          <a:r>
            <a:rPr lang="es-ES" sz="1200" kern="1200" dirty="0"/>
            <a:t> relevantes.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Por lo tanto, la data de entrada y salida es la misma.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En relación con la Exploración de Datos Avanzada: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La variable objetivo del estudio es 'Total </a:t>
          </a:r>
          <a:r>
            <a:rPr lang="es-ES" sz="1200" kern="1200" dirty="0" err="1"/>
            <a:t>Amount</a:t>
          </a:r>
          <a:r>
            <a:rPr lang="es-ES" sz="1200" kern="1200" dirty="0"/>
            <a:t>’.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La mayor cantidad de ingresos por ventas se concentran entre en el rango de 0-250.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Existe un sesgo de los ingresos hacia la derecha (ingresos menores).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Los tres grupos de productos 'Electronics', 'Beauty' y 'Clothing' presentan un comportamiento similar de ingresos por ventas.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La variable 'Total </a:t>
          </a:r>
          <a:r>
            <a:rPr lang="es-ES" sz="1200" kern="1200" dirty="0" err="1"/>
            <a:t>Amount</a:t>
          </a:r>
          <a:r>
            <a:rPr lang="es-ES" sz="1200" kern="1200" dirty="0"/>
            <a:t>' tiene una correlación positiva con la variable 'Price por </a:t>
          </a:r>
          <a:r>
            <a:rPr lang="es-ES" sz="1200" kern="1200" dirty="0" err="1"/>
            <a:t>Unit</a:t>
          </a:r>
          <a:r>
            <a:rPr lang="es-ES" sz="1200" kern="1200" dirty="0"/>
            <a:t>' y en menor medida con la variable '</a:t>
          </a:r>
          <a:r>
            <a:rPr lang="es-ES" sz="1200" kern="1200" dirty="0" err="1"/>
            <a:t>Quantity</a:t>
          </a:r>
          <a:r>
            <a:rPr lang="es-ES" sz="1200" kern="1200" dirty="0"/>
            <a:t>'. Con la variable 'Age' existe una correlación negativa y muy baja.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Para precios bajos la dispersión de valores es muy baja, a medida que el precio aumenta la dispersión con los ingresos aumenta.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La indicado en el punto anterior afecta directamente a la dispersión entre la variable cantidad e ingresos. Donde para ingresos bajos la dispersión es baja, pero para ingresos altos la dispersión es alta.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Conclusión:</a:t>
          </a:r>
          <a:endParaRPr lang="en-US" sz="1200" kern="120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La variable objetivo son los ingresos totales (Total </a:t>
          </a:r>
          <a:r>
            <a:rPr lang="es-ES" sz="1200" kern="1200" dirty="0" err="1"/>
            <a:t>Amount</a:t>
          </a:r>
          <a:r>
            <a:rPr lang="es-ES" sz="1200" kern="1200" dirty="0"/>
            <a:t>) la cual tiene una fuerte correlación positiva con las variables cantidad (</a:t>
          </a:r>
          <a:r>
            <a:rPr lang="es-ES" sz="1200" kern="1200" dirty="0" err="1"/>
            <a:t>Quantity</a:t>
          </a:r>
          <a:r>
            <a:rPr lang="es-ES" sz="1200" kern="1200" dirty="0"/>
            <a:t>) y Precio unitario (Price per </a:t>
          </a:r>
          <a:r>
            <a:rPr lang="es-ES" sz="1200" kern="1200" dirty="0" err="1"/>
            <a:t>Unit</a:t>
          </a:r>
          <a:r>
            <a:rPr lang="es-ES" sz="1200" kern="1200" dirty="0"/>
            <a:t>).</a:t>
          </a:r>
          <a:endParaRPr lang="en-US" sz="1200" kern="1200" dirty="0"/>
        </a:p>
        <a:p>
          <a:pPr marL="228600" lvl="2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 dirty="0"/>
            <a:t>Sin embargo, las variables 'Age', 'Sexo', '</a:t>
          </a:r>
          <a:r>
            <a:rPr lang="es-ES" sz="1200" kern="1200" dirty="0" err="1"/>
            <a:t>Category</a:t>
          </a:r>
          <a:r>
            <a:rPr lang="es-ES" sz="1200" kern="1200" dirty="0"/>
            <a:t>' deben ser parte del estudio de ML, ya que no se pude descartar en esta etapa su impacto.</a:t>
          </a:r>
          <a:endParaRPr lang="en-US" sz="1200" kern="1200" dirty="0"/>
        </a:p>
      </dsp:txBody>
      <dsp:txXfrm>
        <a:off x="0" y="606699"/>
        <a:ext cx="10515600" cy="3656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CA1D9-CBC2-AB3B-CF5E-6580CBD6E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4D56A5-E272-E7E9-F23E-6D24D05E7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DE89A2-051D-AE09-110A-D52825AB4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34CE4-BF8F-AAAD-B1E7-79216B1E3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3B07FD-ADA7-4B45-60CD-60647B90E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303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DBDA3-A6B7-4F59-2151-16BD6D8E2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EA3312-2CFD-53A5-05AB-863EA9E99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982B01-CE08-8AB5-5E21-7BD5E24C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FF596C-A622-42A2-8C21-5ABFADFD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B829B-ADB5-078E-30E2-51640F98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1221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17CB6-45AC-C44F-04C2-A3D831AE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B4FB07-681B-6B14-82F7-6A0283F2A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A3FA1A-99FB-5190-4474-1546AFF4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122145-A90E-A636-8811-1DF79239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1151F0-ADE6-C395-80B7-47267F3D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7825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02174-F394-BCC1-E922-CDCA9C987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45821D-1064-259F-4BF1-A5A83574BF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7F9ECB-A983-2DC4-7876-7247D185B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D94438-2421-0385-DD7D-91723897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F44CA4-F60F-4D5A-84E9-3E80D0A2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AF7FEE-F990-B7AB-F62E-12AD38A1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396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D8287-10F3-464A-0DDF-AF13F5A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6A41DB-1B42-3DAC-7A84-291917FD6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2D8AC7-57C5-9CBC-A8E1-F3CA2B3D8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B4D0A6-D9F7-9692-A6ED-264622B99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2BF514-38E7-8BDB-420E-628277132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51DF38-0D01-8925-B8F0-E10A673D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6494C2-C0D0-4874-EDAF-6674C058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3A97524-EA30-5CDD-3DEE-F9BCB1CA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8954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4FB68-0BBE-E817-9010-60DA7864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C14C142-C02A-3D42-E7C2-556CB7429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5DE537E-2394-D2CC-3612-D86902FC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6197D6-7D9E-02CD-909E-952BA4C8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432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5DD7778-41AF-C1FB-CD9D-83FCDC6BB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19E3B8-64B2-EF2D-6E8B-41459269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B3743A-0169-4399-6ABE-86563A4F2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7873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1B174-F23C-98B1-61CE-30FBBCA7A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397744-7756-7CED-2E27-BEE82AC10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02E8CA-3CBD-398D-22CC-7E8712781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2D82BB-61D3-3FB2-1A1D-E1DCEE2C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318977-B9EC-7CC5-5710-FDA83DC38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2C721F-1D84-5B8E-7C71-FB8A4082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40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2B834-5730-9F4B-F302-DEBEDA803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AF10793-23BA-D2E5-C73F-3D5E2EFFD1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435D9BA-0C37-C7BF-A735-023D5B78E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A29CBD-4EBB-FC3D-8510-0AA96524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A49F80-1B27-3835-D7A4-FF83E9E9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DB000-CDFA-A481-0D36-6AF233E2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1950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1765D-24D1-A3D0-F42E-DF5C443E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5D4E22-166A-B3C2-88A9-5943E96AE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616F32-8CD8-A4C6-3169-1E57B252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1141D5-7A1D-2188-2F84-E1393CB5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59533D-52B5-FB0E-A012-EBD60A02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1397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0107B9-0B90-E4B0-9D43-3B727B274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77EBB8-29EB-C7EA-62FB-3714AEBE3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696728-809E-7AC6-1885-9A0D4000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31CE62-4D99-501A-5C3C-83B9BB95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D4B9C4-9CBA-7C6C-DB58-7646E02D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308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209258E-5316-6D11-83E4-31E6DFC15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0BDF682-BC19-D525-0D9C-D0A547B20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D5690E-F33E-C0BC-45D8-52EC36501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D4264-A309-4F18-9D23-C3590D6889EB}" type="datetimeFigureOut">
              <a:rPr lang="es-CL" smtClean="0"/>
              <a:t>21-05-2026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919466-3BD0-EC1D-9371-9B6391C21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7205DC-B46D-22D2-C1E3-075FEF0E1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CC989-D289-4178-B19C-B59B5659DBE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106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BA15D2-88E7-B7F1-DFBF-6E75D2C38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CL" sz="6600" noProof="0" dirty="0">
                <a:solidFill>
                  <a:srgbClr val="FFFFFF"/>
                </a:solidFill>
              </a:rPr>
              <a:t>Proyecto Data </a:t>
            </a:r>
            <a:r>
              <a:rPr lang="es-CL" sz="6600" noProof="0" dirty="0" err="1">
                <a:solidFill>
                  <a:srgbClr val="FFFFFF"/>
                </a:solidFill>
              </a:rPr>
              <a:t>Science</a:t>
            </a:r>
            <a:br>
              <a:rPr lang="es-CL" sz="4800" noProof="0" dirty="0">
                <a:solidFill>
                  <a:srgbClr val="FFFFFF"/>
                </a:solidFill>
              </a:rPr>
            </a:br>
            <a:r>
              <a:rPr lang="es-CL" sz="4800" noProof="0" dirty="0">
                <a:solidFill>
                  <a:schemeClr val="bg2">
                    <a:lumMod val="90000"/>
                  </a:schemeClr>
                </a:solidFill>
              </a:rPr>
              <a:t>ventas de una tienda de </a:t>
            </a:r>
            <a:r>
              <a:rPr lang="es-CL" sz="4800" i="1" noProof="0" dirty="0" err="1">
                <a:solidFill>
                  <a:schemeClr val="bg2">
                    <a:lumMod val="90000"/>
                  </a:schemeClr>
                </a:solidFill>
              </a:rPr>
              <a:t>retail</a:t>
            </a:r>
            <a:endParaRPr lang="es-CL" sz="4800" noProof="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1AEE51-5312-5542-FC41-3CC98CF47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s-CL" noProof="0" dirty="0"/>
              <a:t>Preparado por Raúl Araya</a:t>
            </a:r>
          </a:p>
        </p:txBody>
      </p:sp>
    </p:spTree>
    <p:extLst>
      <p:ext uri="{BB962C8B-B14F-4D97-AF65-F5344CB8AC3E}">
        <p14:creationId xmlns:p14="http://schemas.microsoft.com/office/powerpoint/2010/main" val="348093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397DEE-2F1A-D446-95DD-428FF577A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CL" sz="4000" noProof="0" dirty="0">
                <a:solidFill>
                  <a:srgbClr val="FFFFFF"/>
                </a:solidFill>
              </a:rPr>
              <a:t>Estructura de la presentación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CDE6B8A-CA6F-46B8-4786-F59AAB10E0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35142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626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F204740-1038-403D-9974-9C03155C1F77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Introducción y objetivos del proyecto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2226324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2B57F4-DDF6-4279-75C1-FDE395E5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012147"/>
          </a:xfrm>
        </p:spPr>
        <p:txBody>
          <a:bodyPr anchor="b">
            <a:normAutofit/>
          </a:bodyPr>
          <a:lstStyle/>
          <a:p>
            <a:r>
              <a:rPr lang="es-CL" sz="4000" noProof="0" dirty="0"/>
              <a:t>Introducción y objetivos del proyecto</a:t>
            </a:r>
          </a:p>
        </p:txBody>
      </p:sp>
      <p:graphicFrame>
        <p:nvGraphicFramePr>
          <p:cNvPr id="15" name="Marcador de contenido 2">
            <a:extLst>
              <a:ext uri="{FF2B5EF4-FFF2-40B4-BE49-F238E27FC236}">
                <a16:creationId xmlns:a16="http://schemas.microsoft.com/office/drawing/2014/main" id="{E71AF09D-16B7-6A77-6779-7268A3104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344934"/>
              </p:ext>
            </p:extLst>
          </p:nvPr>
        </p:nvGraphicFramePr>
        <p:xfrm>
          <a:off x="1136397" y="1514168"/>
          <a:ext cx="9688296" cy="4358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60365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6CAEC-841A-71D3-2BC5-BA4EEE17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1E18C3-ECE8-8715-A6CB-DCFB9F0E046E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Descripción del conjunto de datos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895335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E38028-6B58-E587-61F8-55F0EB064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s-CL" sz="4000" noProof="0" dirty="0"/>
              <a:t>Descripción del conjunto de datos</a:t>
            </a:r>
          </a:p>
        </p:txBody>
      </p:sp>
      <p:graphicFrame>
        <p:nvGraphicFramePr>
          <p:cNvPr id="14" name="Marcador de contenido 2">
            <a:extLst>
              <a:ext uri="{FF2B5EF4-FFF2-40B4-BE49-F238E27FC236}">
                <a16:creationId xmlns:a16="http://schemas.microsoft.com/office/drawing/2014/main" id="{1040D6DE-0457-824B-41D8-6627A5A84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307892"/>
              </p:ext>
            </p:extLst>
          </p:nvPr>
        </p:nvGraphicFramePr>
        <p:xfrm>
          <a:off x="1136397" y="2418409"/>
          <a:ext cx="9688296" cy="3454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85791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FC6B2-E38E-770C-CD76-CAFAB37D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4E05D-12BF-BBFE-365E-42579652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068" y="118070"/>
            <a:ext cx="9688296" cy="1240422"/>
          </a:xfrm>
        </p:spPr>
        <p:txBody>
          <a:bodyPr anchor="b">
            <a:normAutofit/>
          </a:bodyPr>
          <a:lstStyle/>
          <a:p>
            <a:r>
              <a:rPr lang="es-CL" sz="4000" noProof="0" dirty="0"/>
              <a:t>Descripción del conjunto de datos</a:t>
            </a:r>
            <a:br>
              <a:rPr lang="es-CL" sz="4000" noProof="0" dirty="0"/>
            </a:br>
            <a:r>
              <a:rPr lang="es-CL" sz="2800" noProof="0" dirty="0"/>
              <a:t>Resumen de la data</a:t>
            </a:r>
            <a:endParaRPr lang="es-CL" sz="4000" noProof="0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C82B5F40-6ACE-059C-B470-019109F3B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780400"/>
              </p:ext>
            </p:extLst>
          </p:nvPr>
        </p:nvGraphicFramePr>
        <p:xfrm>
          <a:off x="1981008" y="4622540"/>
          <a:ext cx="7920416" cy="2194560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52156">
                  <a:extLst>
                    <a:ext uri="{9D8B030D-6E8A-4147-A177-3AD203B41FA5}">
                      <a16:colId xmlns:a16="http://schemas.microsoft.com/office/drawing/2014/main" val="598230383"/>
                    </a:ext>
                  </a:extLst>
                </a:gridCol>
                <a:gridCol w="961390">
                  <a:extLst>
                    <a:ext uri="{9D8B030D-6E8A-4147-A177-3AD203B41FA5}">
                      <a16:colId xmlns:a16="http://schemas.microsoft.com/office/drawing/2014/main" val="4280825088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1150304621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4118629942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1074628811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1653887121"/>
                    </a:ext>
                  </a:extLst>
                </a:gridCol>
                <a:gridCol w="1145540">
                  <a:extLst>
                    <a:ext uri="{9D8B030D-6E8A-4147-A177-3AD203B41FA5}">
                      <a16:colId xmlns:a16="http://schemas.microsoft.com/office/drawing/2014/main" val="1538654225"/>
                    </a:ext>
                  </a:extLst>
                </a:gridCol>
                <a:gridCol w="732790">
                  <a:extLst>
                    <a:ext uri="{9D8B030D-6E8A-4147-A177-3AD203B41FA5}">
                      <a16:colId xmlns:a16="http://schemas.microsoft.com/office/drawing/2014/main" val="1245175975"/>
                    </a:ext>
                  </a:extLst>
                </a:gridCol>
                <a:gridCol w="901065">
                  <a:extLst>
                    <a:ext uri="{9D8B030D-6E8A-4147-A177-3AD203B41FA5}">
                      <a16:colId xmlns:a16="http://schemas.microsoft.com/office/drawing/2014/main" val="2290611211"/>
                    </a:ext>
                  </a:extLst>
                </a:gridCol>
                <a:gridCol w="888365">
                  <a:extLst>
                    <a:ext uri="{9D8B030D-6E8A-4147-A177-3AD203B41FA5}">
                      <a16:colId xmlns:a16="http://schemas.microsoft.com/office/drawing/2014/main" val="40895767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s-CL" sz="1100" b="0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Transaction</a:t>
                      </a: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ID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Date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Customer</a:t>
                      </a: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ID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Gender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Product</a:t>
                      </a: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Category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Quantity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Price per </a:t>
                      </a: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Unit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Total </a:t>
                      </a:r>
                      <a:r>
                        <a:rPr lang="es-CL" sz="1100" b="1" u="none" strike="noStrike" noProof="0" dirty="0" err="1">
                          <a:solidFill>
                            <a:schemeClr val="bg1"/>
                          </a:solidFill>
                          <a:effectLst/>
                        </a:rPr>
                        <a:t>Amount</a:t>
                      </a:r>
                      <a:endParaRPr lang="es-CL" sz="1100" b="1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239972569"/>
                  </a:ext>
                </a:extLst>
              </a:tr>
              <a:tr h="182880"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Primera 5 filas</a:t>
                      </a:r>
                      <a:endParaRPr lang="es-CL" sz="1100" b="0" i="0" u="none" strike="noStrike" noProof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vert="vert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24/11/2023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CUST001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Beauty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2428321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27/02/2023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CUST002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26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Clothing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1262038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13/01/2023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CUST003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Electronics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613225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21/05/2023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CUST004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Clothing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424679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06/05/2023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CUST005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Beauty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86597"/>
                  </a:ext>
                </a:extLst>
              </a:tr>
              <a:tr h="182880"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chemeClr val="tx1"/>
                          </a:solidFill>
                          <a:effectLst/>
                        </a:rPr>
                        <a:t>Últimas 5 filas</a:t>
                      </a:r>
                      <a:endParaRPr lang="es-CL" sz="1100" b="0" i="0" u="none" strike="noStrike" noProof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vert="vert27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995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16/05/2023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CUST996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62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Clothing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5979224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996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17/11/2023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CUST997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52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Beauty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2356231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997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29/10/2023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CUST998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Beauty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776836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998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05/12/2023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CUST999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Female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Electronics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150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576989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999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12/04/2023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CUST1000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Male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47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 err="1">
                          <a:solidFill>
                            <a:srgbClr val="000000"/>
                          </a:solidFill>
                          <a:effectLst/>
                        </a:rPr>
                        <a:t>Electronics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120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3378275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AA295AE-272B-3FEC-D5AE-C2BBA9294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61729"/>
              </p:ext>
            </p:extLst>
          </p:nvPr>
        </p:nvGraphicFramePr>
        <p:xfrm>
          <a:off x="6649816" y="1584960"/>
          <a:ext cx="4135548" cy="2590800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419718">
                  <a:extLst>
                    <a:ext uri="{9D8B030D-6E8A-4147-A177-3AD203B41FA5}">
                      <a16:colId xmlns:a16="http://schemas.microsoft.com/office/drawing/2014/main" val="461956193"/>
                    </a:ext>
                  </a:extLst>
                </a:gridCol>
                <a:gridCol w="1357884">
                  <a:extLst>
                    <a:ext uri="{9D8B030D-6E8A-4147-A177-3AD203B41FA5}">
                      <a16:colId xmlns:a16="http://schemas.microsoft.com/office/drawing/2014/main" val="485036031"/>
                    </a:ext>
                  </a:extLst>
                </a:gridCol>
                <a:gridCol w="1193754">
                  <a:extLst>
                    <a:ext uri="{9D8B030D-6E8A-4147-A177-3AD203B41FA5}">
                      <a16:colId xmlns:a16="http://schemas.microsoft.com/office/drawing/2014/main" val="1945064171"/>
                    </a:ext>
                  </a:extLst>
                </a:gridCol>
                <a:gridCol w="1164192">
                  <a:extLst>
                    <a:ext uri="{9D8B030D-6E8A-4147-A177-3AD203B41FA5}">
                      <a16:colId xmlns:a16="http://schemas.microsoft.com/office/drawing/2014/main" val="217429107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Nº</a:t>
                      </a:r>
                      <a:endParaRPr lang="es-CL" sz="1100" b="0" u="none" strike="noStrike" kern="1200" noProof="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Non‑Null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Tipo de dato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8737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Transaction</a:t>
                      </a: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9837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3006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</a:t>
                      </a: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9031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7656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3248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</a:t>
                      </a: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6521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Quantity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98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per 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Unit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246267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Amount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 non-</a:t>
                      </a:r>
                      <a:r>
                        <a:rPr lang="es-CL" sz="1100" b="0" u="none" strike="noStrike" kern="1200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endParaRPr lang="es-CL" sz="1100" b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100" b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79176"/>
                  </a:ext>
                </a:extLst>
              </a:tr>
            </a:tbl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E07FA-4ADB-560D-D674-E7D54B9AF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63899"/>
              </p:ext>
            </p:extLst>
          </p:nvPr>
        </p:nvGraphicFramePr>
        <p:xfrm>
          <a:off x="2247601" y="2331720"/>
          <a:ext cx="1574800" cy="1097280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78032263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409145585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Tamaño de la Data</a:t>
                      </a:r>
                      <a:endParaRPr lang="es-CL" sz="1100" b="0" i="0" u="none" strike="noStrike" noProof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5071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Filas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Columnas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7046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1000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0189493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Memoria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110194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CL" sz="1100" b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74.8 kB</a:t>
                      </a:r>
                      <a:endParaRPr lang="es-CL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918444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BDD5C746-DD8C-CC59-7D0C-1CB6DB8E2BD1}"/>
              </a:ext>
            </a:extLst>
          </p:cNvPr>
          <p:cNvSpPr txBox="1"/>
          <p:nvPr/>
        </p:nvSpPr>
        <p:spPr>
          <a:xfrm>
            <a:off x="2021614" y="1866128"/>
            <a:ext cx="2026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/>
              <a:t>Tamaño de la Data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43F1044-E0AE-A6C5-3301-05AF9D46FBBC}"/>
              </a:ext>
            </a:extLst>
          </p:cNvPr>
          <p:cNvSpPr txBox="1"/>
          <p:nvPr/>
        </p:nvSpPr>
        <p:spPr>
          <a:xfrm>
            <a:off x="7496614" y="1138180"/>
            <a:ext cx="2441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/>
              <a:t>Información de la Data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1AFE702-ABC1-16A3-BE3E-C0F59C4F1329}"/>
              </a:ext>
            </a:extLst>
          </p:cNvPr>
          <p:cNvSpPr txBox="1"/>
          <p:nvPr/>
        </p:nvSpPr>
        <p:spPr>
          <a:xfrm>
            <a:off x="4224560" y="4253208"/>
            <a:ext cx="3433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/>
              <a:t>Información detallada de la Data</a:t>
            </a:r>
          </a:p>
        </p:txBody>
      </p:sp>
    </p:spTree>
    <p:extLst>
      <p:ext uri="{BB962C8B-B14F-4D97-AF65-F5344CB8AC3E}">
        <p14:creationId xmlns:p14="http://schemas.microsoft.com/office/powerpoint/2010/main" val="199074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0EFA1-65AE-AFD8-95FD-12E38A62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8109-F535-2D3D-9554-FFCCEC32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068" y="118070"/>
            <a:ext cx="9688296" cy="1240422"/>
          </a:xfrm>
        </p:spPr>
        <p:txBody>
          <a:bodyPr anchor="b">
            <a:normAutofit/>
          </a:bodyPr>
          <a:lstStyle/>
          <a:p>
            <a:r>
              <a:rPr lang="es-CL" sz="4000" noProof="0" dirty="0"/>
              <a:t>Descripción del conjunto de datos</a:t>
            </a:r>
            <a:br>
              <a:rPr lang="es-CL" sz="4000" noProof="0" dirty="0"/>
            </a:br>
            <a:r>
              <a:rPr lang="es-CL" sz="2800" noProof="0" dirty="0"/>
              <a:t>Resumen de la data</a:t>
            </a:r>
            <a:endParaRPr lang="es-CL" sz="4000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43EEA61-507A-6CF1-D0F5-2835317115FE}"/>
              </a:ext>
            </a:extLst>
          </p:cNvPr>
          <p:cNvSpPr txBox="1"/>
          <p:nvPr/>
        </p:nvSpPr>
        <p:spPr>
          <a:xfrm>
            <a:off x="4078184" y="1962388"/>
            <a:ext cx="2543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/>
              <a:t>Descriptivos numéricos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B1BDA3B-68AF-A0AA-C1CB-24B978585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884038"/>
              </p:ext>
            </p:extLst>
          </p:nvPr>
        </p:nvGraphicFramePr>
        <p:xfrm>
          <a:off x="2329216" y="2331720"/>
          <a:ext cx="6041583" cy="2194560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988441">
                  <a:extLst>
                    <a:ext uri="{9D8B030D-6E8A-4147-A177-3AD203B41FA5}">
                      <a16:colId xmlns:a16="http://schemas.microsoft.com/office/drawing/2014/main" val="2335058597"/>
                    </a:ext>
                  </a:extLst>
                </a:gridCol>
                <a:gridCol w="1212914">
                  <a:extLst>
                    <a:ext uri="{9D8B030D-6E8A-4147-A177-3AD203B41FA5}">
                      <a16:colId xmlns:a16="http://schemas.microsoft.com/office/drawing/2014/main" val="3019390232"/>
                    </a:ext>
                  </a:extLst>
                </a:gridCol>
                <a:gridCol w="743268">
                  <a:extLst>
                    <a:ext uri="{9D8B030D-6E8A-4147-A177-3AD203B41FA5}">
                      <a16:colId xmlns:a16="http://schemas.microsoft.com/office/drawing/2014/main" val="1898754253"/>
                    </a:ext>
                  </a:extLst>
                </a:gridCol>
                <a:gridCol w="813118">
                  <a:extLst>
                    <a:ext uri="{9D8B030D-6E8A-4147-A177-3AD203B41FA5}">
                      <a16:colId xmlns:a16="http://schemas.microsoft.com/office/drawing/2014/main" val="3010564020"/>
                    </a:ext>
                  </a:extLst>
                </a:gridCol>
                <a:gridCol w="1152970">
                  <a:extLst>
                    <a:ext uri="{9D8B030D-6E8A-4147-A177-3AD203B41FA5}">
                      <a16:colId xmlns:a16="http://schemas.microsoft.com/office/drawing/2014/main" val="3754383638"/>
                    </a:ext>
                  </a:extLst>
                </a:gridCol>
                <a:gridCol w="1130872">
                  <a:extLst>
                    <a:ext uri="{9D8B030D-6E8A-4147-A177-3AD203B41FA5}">
                      <a16:colId xmlns:a16="http://schemas.microsoft.com/office/drawing/2014/main" val="1747597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Estadística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 err="1"/>
                        <a:t>Transaction</a:t>
                      </a:r>
                      <a:r>
                        <a:rPr lang="es-CL" sz="1000" noProof="0" dirty="0"/>
                        <a:t>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 err="1"/>
                        <a:t>Quantity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Price per </a:t>
                      </a:r>
                      <a:r>
                        <a:rPr lang="es-CL" sz="1000" noProof="0" dirty="0" err="1"/>
                        <a:t>Unit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Total </a:t>
                      </a:r>
                      <a:r>
                        <a:rPr lang="es-CL" sz="1000" noProof="0" dirty="0" err="1"/>
                        <a:t>Amount</a:t>
                      </a:r>
                      <a:endParaRPr lang="es-CL" sz="1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9171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 err="1"/>
                        <a:t>count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564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/>
                        <a:t>mean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500.50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41.39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179.89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456.00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663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 err="1"/>
                        <a:t>std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288.82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13.68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189.68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560.00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638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/>
                        <a:t>min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18.00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4845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/>
                        <a:t>25%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250.75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29.00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30.00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60.00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0788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/>
                        <a:t>50%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500.50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42.00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135.00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2362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/>
                        <a:t>75%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750.25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300.00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900.00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930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 err="1"/>
                        <a:t>max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64.00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4.00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500.00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2000.00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003796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0412BF2-2844-AA94-0F2E-C09D29ACA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799984"/>
              </p:ext>
            </p:extLst>
          </p:nvPr>
        </p:nvGraphicFramePr>
        <p:xfrm>
          <a:off x="3163859" y="5385718"/>
          <a:ext cx="4372294" cy="1219200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741998">
                  <a:extLst>
                    <a:ext uri="{9D8B030D-6E8A-4147-A177-3AD203B41FA5}">
                      <a16:colId xmlns:a16="http://schemas.microsoft.com/office/drawing/2014/main" val="414041794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3402788357"/>
                    </a:ext>
                  </a:extLst>
                </a:gridCol>
                <a:gridCol w="940118">
                  <a:extLst>
                    <a:ext uri="{9D8B030D-6E8A-4147-A177-3AD203B41FA5}">
                      <a16:colId xmlns:a16="http://schemas.microsoft.com/office/drawing/2014/main" val="1723119156"/>
                    </a:ext>
                  </a:extLst>
                </a:gridCol>
                <a:gridCol w="633730">
                  <a:extLst>
                    <a:ext uri="{9D8B030D-6E8A-4147-A177-3AD203B41FA5}">
                      <a16:colId xmlns:a16="http://schemas.microsoft.com/office/drawing/2014/main" val="3008972277"/>
                    </a:ext>
                  </a:extLst>
                </a:gridCol>
                <a:gridCol w="1216343">
                  <a:extLst>
                    <a:ext uri="{9D8B030D-6E8A-4147-A177-3AD203B41FA5}">
                      <a16:colId xmlns:a16="http://schemas.microsoft.com/office/drawing/2014/main" val="3032273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 err="1"/>
                        <a:t>Customer</a:t>
                      </a:r>
                      <a:r>
                        <a:rPr lang="es-CL" sz="1000" noProof="0" dirty="0"/>
                        <a:t>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noProof="0" dirty="0" err="1"/>
                        <a:t>Product</a:t>
                      </a:r>
                      <a:r>
                        <a:rPr lang="es-CL" sz="1000" noProof="0" dirty="0"/>
                        <a:t> </a:t>
                      </a:r>
                      <a:r>
                        <a:rPr lang="es-CL" sz="1000" noProof="0" dirty="0" err="1"/>
                        <a:t>Category</a:t>
                      </a:r>
                      <a:endParaRPr lang="es-CL" sz="1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94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 err="1"/>
                        <a:t>count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276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 err="1"/>
                        <a:t>unique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187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/>
                        <a:t>top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2023-05-16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CUST001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 err="1"/>
                        <a:t>Clothing</a:t>
                      </a:r>
                      <a:endParaRPr lang="es-CL" sz="1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15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00" b="1" noProof="0" dirty="0" err="1"/>
                        <a:t>freq</a:t>
                      </a:r>
                      <a:endParaRPr lang="es-CL" sz="1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510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00" noProof="0" dirty="0"/>
                        <a:t>351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211675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3897E43-2EF3-FCED-0070-A88534C60696}"/>
              </a:ext>
            </a:extLst>
          </p:cNvPr>
          <p:cNvSpPr txBox="1"/>
          <p:nvPr/>
        </p:nvSpPr>
        <p:spPr>
          <a:xfrm>
            <a:off x="4007683" y="5016386"/>
            <a:ext cx="2684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noProof="0" dirty="0"/>
              <a:t>Descriptivos Categóricos</a:t>
            </a:r>
          </a:p>
        </p:txBody>
      </p:sp>
    </p:spTree>
    <p:extLst>
      <p:ext uri="{BB962C8B-B14F-4D97-AF65-F5344CB8AC3E}">
        <p14:creationId xmlns:p14="http://schemas.microsoft.com/office/powerpoint/2010/main" val="702441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FB75CF-DD27-F88A-81A0-F9631DDF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0BE60F-BBB8-BE26-8C96-5A0EBD5EB879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Principales Análisis y Hallazgos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331656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8494BE-5892-73F5-0739-E1D6DEB8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D27B68-8EE5-C340-0777-D43844A3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1"/>
            <a:ext cx="9688296" cy="1642969"/>
          </a:xfrm>
        </p:spPr>
        <p:txBody>
          <a:bodyPr anchor="b">
            <a:normAutofit/>
          </a:bodyPr>
          <a:lstStyle/>
          <a:p>
            <a:r>
              <a:rPr lang="es-CL" sz="4000" noProof="0" dirty="0"/>
              <a:t>Principales Análisis y Hallazgos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9AA0D4-156E-7B7F-DF84-7B559A9AB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2418409"/>
            <a:ext cx="9688296" cy="1720972"/>
          </a:xfrm>
        </p:spPr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L" sz="2000" noProof="0" dirty="0"/>
              <a:t>Verificación y corrección de Datos → La data tiene las categorías correspondientes.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2000" noProof="0" dirty="0"/>
              <a:t>Identificación de duplicados → La data no tiene datos duplicados.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2000" noProof="0" dirty="0"/>
              <a:t>Identificación de datos nulos → La data no tiene datos nulos.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L" sz="2000" noProof="0" dirty="0"/>
              <a:t>Identificación y eliminación de datos </a:t>
            </a:r>
            <a:r>
              <a:rPr lang="es-CL" sz="2000" i="1" noProof="0" dirty="0" err="1"/>
              <a:t>outliers</a:t>
            </a:r>
            <a:r>
              <a:rPr lang="es-CL" sz="2000" noProof="0" dirty="0"/>
              <a:t> → La data no tiene </a:t>
            </a:r>
            <a:r>
              <a:rPr lang="es-CL" sz="2000" i="1" noProof="0" dirty="0" err="1"/>
              <a:t>outliers</a:t>
            </a:r>
            <a:r>
              <a:rPr lang="es-CL" sz="2000" noProof="0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EDF0065-8A34-73DA-C782-28B662385C05}"/>
              </a:ext>
            </a:extLst>
          </p:cNvPr>
          <p:cNvSpPr txBox="1">
            <a:spLocks/>
          </p:cNvSpPr>
          <p:nvPr/>
        </p:nvSpPr>
        <p:spPr>
          <a:xfrm>
            <a:off x="1136397" y="4276114"/>
            <a:ext cx="9688296" cy="1720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s-CL" sz="2000" noProof="0" dirty="0"/>
              <a:t>Como resumen de resultados del análisis y hallazgos: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CL" sz="2000" noProof="0" dirty="0"/>
              <a:t>Se mantiene la data inicial.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s-CL" sz="2000" noProof="0" dirty="0"/>
              <a:t>No se encuentra data corrupta, mal ingresada.</a:t>
            </a:r>
          </a:p>
        </p:txBody>
      </p:sp>
    </p:spTree>
    <p:extLst>
      <p:ext uri="{BB962C8B-B14F-4D97-AF65-F5344CB8AC3E}">
        <p14:creationId xmlns:p14="http://schemas.microsoft.com/office/powerpoint/2010/main" val="720417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FF575-A130-C8EE-3268-217F35FF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0F8117-8EFD-5225-535D-0C5D2ED92C0E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Visualizaciones claves con explicación </a:t>
            </a: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790329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780D7-BDA9-18EC-E371-DE734481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C20D48-787C-6150-9DF7-695C6D777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7" y="354797"/>
            <a:ext cx="10383523" cy="12251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Visualizaciones claves con explicación</a:t>
            </a:r>
            <a:br>
              <a:rPr lang="es-CL" sz="37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s-CL" sz="2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Correlación</a:t>
            </a:r>
            <a:endParaRPr lang="es-CL" sz="37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FC2A1F-DF9E-EAFB-6044-386E8D8733B9}"/>
              </a:ext>
            </a:extLst>
          </p:cNvPr>
          <p:cNvSpPr txBox="1"/>
          <p:nvPr/>
        </p:nvSpPr>
        <p:spPr>
          <a:xfrm>
            <a:off x="608943" y="2238241"/>
            <a:ext cx="5172425" cy="23940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La variable objetivo del estudio es 'Total </a:t>
            </a:r>
            <a:r>
              <a:rPr lang="es-CL" sz="2000" noProof="0" dirty="0" err="1"/>
              <a:t>Amount</a:t>
            </a:r>
            <a:r>
              <a:rPr lang="es-CL" sz="2000" noProof="0" dirty="0"/>
              <a:t>’.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La variable 'Total </a:t>
            </a:r>
            <a:r>
              <a:rPr lang="es-CL" sz="2000" noProof="0" dirty="0" err="1"/>
              <a:t>Amount</a:t>
            </a:r>
            <a:r>
              <a:rPr lang="es-CL" sz="2000" noProof="0" dirty="0"/>
              <a:t>’ tiene una correlación positiva significativa con la variable 'Price por </a:t>
            </a:r>
            <a:r>
              <a:rPr lang="es-CL" sz="2000" noProof="0" dirty="0" err="1"/>
              <a:t>Unit</a:t>
            </a:r>
            <a:r>
              <a:rPr lang="es-CL" sz="2000" noProof="0" dirty="0"/>
              <a:t>' y en menor medida con la variable '</a:t>
            </a:r>
            <a:r>
              <a:rPr lang="es-CL" sz="2000" noProof="0" dirty="0" err="1"/>
              <a:t>Quantity</a:t>
            </a:r>
            <a:r>
              <a:rPr lang="es-CL" sz="2000" noProof="0" dirty="0"/>
              <a:t>’.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Con la variable 'Age' existe una correlación negativa y muy baja.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8E5864C-A986-052A-2FBE-E58FF2252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311" y="1285678"/>
            <a:ext cx="5172425" cy="46293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581CDFC-7A93-8701-D66E-48F2F6FC8B2E}"/>
              </a:ext>
            </a:extLst>
          </p:cNvPr>
          <p:cNvSpPr txBox="1"/>
          <p:nvPr/>
        </p:nvSpPr>
        <p:spPr>
          <a:xfrm>
            <a:off x="608942" y="4576802"/>
            <a:ext cx="5172425" cy="1528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2000" noProof="0" dirty="0"/>
              <a:t>Las variables 'Price por </a:t>
            </a:r>
            <a:r>
              <a:rPr lang="es-CL" sz="2000" noProof="0" dirty="0" err="1"/>
              <a:t>Unit</a:t>
            </a:r>
            <a:r>
              <a:rPr lang="es-CL" sz="2000" noProof="0" dirty="0"/>
              <a:t>' y '</a:t>
            </a:r>
            <a:r>
              <a:rPr lang="es-CL" sz="2000" noProof="0" dirty="0" err="1"/>
              <a:t>Quantity</a:t>
            </a:r>
            <a:r>
              <a:rPr lang="es-CL" sz="2000" noProof="0" dirty="0"/>
              <a:t>’, serían inicialmente las variables que influirían en la variable objetivo.</a:t>
            </a:r>
          </a:p>
        </p:txBody>
      </p:sp>
    </p:spTree>
    <p:extLst>
      <p:ext uri="{BB962C8B-B14F-4D97-AF65-F5344CB8AC3E}">
        <p14:creationId xmlns:p14="http://schemas.microsoft.com/office/powerpoint/2010/main" val="1756048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A0310-6C6F-58E3-A496-1F81A020F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04886C-1E38-97FA-2072-5B81A3E87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31" y="250543"/>
            <a:ext cx="10640534" cy="96865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CL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Visualizaciones claves con explicación</a:t>
            </a:r>
            <a:br>
              <a:rPr lang="es-CL" sz="3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s-CL" sz="2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Histogramas (variable objetivo)</a:t>
            </a:r>
            <a:endParaRPr lang="es-CL" sz="34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B6E491-129D-118A-F845-6380877FE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378" y="2950790"/>
            <a:ext cx="9665241" cy="34553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8D4A839-DADB-FD39-7CFE-D2A22AD8D33E}"/>
              </a:ext>
            </a:extLst>
          </p:cNvPr>
          <p:cNvSpPr txBox="1"/>
          <p:nvPr/>
        </p:nvSpPr>
        <p:spPr>
          <a:xfrm>
            <a:off x="775731" y="1324235"/>
            <a:ext cx="10640534" cy="133047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700" noProof="0" dirty="0"/>
              <a:t>La mayor cantidad de ingresos por ventas se concentran entre en el rango de 0-250.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700" noProof="0" dirty="0"/>
              <a:t>Los tres grupos de productos '</a:t>
            </a:r>
            <a:r>
              <a:rPr lang="es-CL" sz="1700" noProof="0" dirty="0" err="1"/>
              <a:t>Electronics</a:t>
            </a:r>
            <a:r>
              <a:rPr lang="es-CL" sz="1700" noProof="0" dirty="0"/>
              <a:t>', 'Beauty' y '</a:t>
            </a:r>
            <a:r>
              <a:rPr lang="es-CL" sz="1700" noProof="0" dirty="0" err="1"/>
              <a:t>Clothing</a:t>
            </a:r>
            <a:r>
              <a:rPr lang="es-CL" sz="1700" noProof="0" dirty="0"/>
              <a:t>' presentan un comportamiento similar de ingresos por ventas.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700" noProof="0" dirty="0"/>
              <a:t>Se observa un sesgo hacia la derecha.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95106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4FA34-F7E5-8391-B20B-0DA707BE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715757-3525-CEE8-B9EA-4A3B050D1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97" y="502812"/>
            <a:ext cx="10555750" cy="1050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L" sz="36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Visualizaciones claves con explicación</a:t>
            </a:r>
            <a:br>
              <a:rPr lang="es-CL" sz="34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s-CL" sz="2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Dispersión</a:t>
            </a:r>
            <a:endParaRPr lang="es-CL" sz="34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4B5F75-684C-7B0A-69AB-9FEFDE290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831" y="2938276"/>
            <a:ext cx="9802336" cy="34553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16D25BD-63C6-16B9-8A2D-6FBDA0C25A94}"/>
              </a:ext>
            </a:extLst>
          </p:cNvPr>
          <p:cNvSpPr txBox="1"/>
          <p:nvPr/>
        </p:nvSpPr>
        <p:spPr>
          <a:xfrm>
            <a:off x="738597" y="1553498"/>
            <a:ext cx="10714805" cy="138215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600" noProof="0" dirty="0"/>
              <a:t>Ambos gráficos muestran una relación positiva.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600" noProof="0" dirty="0"/>
              <a:t>Para precios bajos la dispersión de valores es muy baja, a medida que el precio aumenta la dispersión con los ingresos aumenta.</a:t>
            </a:r>
          </a:p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L" sz="1600" noProof="0" dirty="0"/>
              <a:t>La indicado en el punto anterior afecta directamente a la dispersión entre la variable cantidad e ingresos. Donde para ingresos bajos la dispersión es baja, pero para ingresos altos la dispersión es alta.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865848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847C2-6D5D-8E9C-2F7A-4BEB7594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7822489-D99B-7A04-E290-D331DAA1FD5B}"/>
              </a:ext>
            </a:extLst>
          </p:cNvPr>
          <p:cNvSpPr txBox="1"/>
          <p:nvPr/>
        </p:nvSpPr>
        <p:spPr>
          <a:xfrm>
            <a:off x="4162567" y="818984"/>
            <a:ext cx="6714699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Conclusiones y Recomendaciones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2799951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9A435-CDCF-E79C-F225-BACCD79AA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F6FD238-09E8-F4EA-DA0C-C716DCEB3CB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2F152A-833D-97E2-173E-BDA1814B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noProof="0"/>
              <a:t>Conclusiones y recomendaciones</a:t>
            </a:r>
          </a:p>
        </p:txBody>
      </p:sp>
      <p:graphicFrame>
        <p:nvGraphicFramePr>
          <p:cNvPr id="16" name="Marcador de contenido 2">
            <a:extLst>
              <a:ext uri="{FF2B5EF4-FFF2-40B4-BE49-F238E27FC236}">
                <a16:creationId xmlns:a16="http://schemas.microsoft.com/office/drawing/2014/main" id="{93459D5B-BA4C-9CB6-DB1E-3719CDD43E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4552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8354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776</TotalTime>
  <Words>1091</Words>
  <Application>Microsoft Office PowerPoint</Application>
  <PresentationFormat>Panorámica</PresentationFormat>
  <Paragraphs>295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Wingdings</vt:lpstr>
      <vt:lpstr>Tema de Office</vt:lpstr>
      <vt:lpstr>Proyecto Data Science ventas de una tienda de retail</vt:lpstr>
      <vt:lpstr>Estructura de la presentación</vt:lpstr>
      <vt:lpstr>Presentación de PowerPoint</vt:lpstr>
      <vt:lpstr>Introducción y objetivos del proyecto</vt:lpstr>
      <vt:lpstr>Presentación de PowerPoint</vt:lpstr>
      <vt:lpstr>Descripción del conjunto de datos</vt:lpstr>
      <vt:lpstr>Descripción del conjunto de datos Resumen de la data</vt:lpstr>
      <vt:lpstr>Descripción del conjunto de datos Resumen de la data</vt:lpstr>
      <vt:lpstr>Presentación de PowerPoint</vt:lpstr>
      <vt:lpstr>Principales Análisis y Hallazgos</vt:lpstr>
      <vt:lpstr>Presentación de PowerPoint</vt:lpstr>
      <vt:lpstr>Visualizaciones claves con explicación Correlación</vt:lpstr>
      <vt:lpstr>Visualizaciones claves con explicación Histogramas (variable objetivo)</vt:lpstr>
      <vt:lpstr>Visualizaciones claves con explicación Dispersión</vt:lpstr>
      <vt:lpstr>Presentación de PowerPoint</vt:lpstr>
      <vt:lpstr>Conclusiones y 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Raúl Araya</dc:creator>
  <cp:lastModifiedBy>Raúl Araya</cp:lastModifiedBy>
  <cp:revision>2</cp:revision>
  <dcterms:created xsi:type="dcterms:W3CDTF">2026-05-22T03:28:23Z</dcterms:created>
  <dcterms:modified xsi:type="dcterms:W3CDTF">2026-05-22T16:24:42Z</dcterms:modified>
</cp:coreProperties>
</file>